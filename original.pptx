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32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0334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c46d37e49add7887b2bd87a1c74dfa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707" y="6001207"/>
            <a:ext cx="7619695" cy="2476195"/>
          </a:xfrm>
          <a:prstGeom prst="roundRect">
            <a:avLst>
              <a:gd name="adj" fmla="val 616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 txBox="1"/>
          <p:nvPr/>
        </p:nvSpPr>
        <p:spPr>
          <a:xfrm>
            <a:off x="857707" y="761695"/>
            <a:ext cx="1657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Sistema de Monitoramento da Estratégia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57706" y="2667305"/>
            <a:ext cx="15334793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0" b="1" kern="0" spc="-225" dirty="0">
                <a:solidFill>
                  <a:srgbClr val="F8F9FA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SIME </a:t>
            </a:r>
            <a:r>
              <a:rPr lang="en-US" sz="7500" b="1" kern="0" spc="-225" dirty="0">
                <a:solidFill>
                  <a:srgbClr val="F18805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|</a:t>
            </a:r>
            <a:r>
              <a:rPr lang="en-US" sz="7500" b="1" kern="0" spc="-225" dirty="0">
                <a:solidFill>
                  <a:srgbClr val="F8F9FA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0" b="1" kern="0" spc="-225" dirty="0" err="1">
                <a:solidFill>
                  <a:srgbClr val="F8F9FA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Entendendo</a:t>
            </a:r>
            <a:r>
              <a:rPr lang="en-US" sz="7500" b="1" kern="0" spc="-225" dirty="0">
                <a:solidFill>
                  <a:srgbClr val="F8F9FA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 </a:t>
            </a:r>
            <a:r>
              <a:rPr lang="en-US" sz="7500" b="1" kern="0" spc="-225" dirty="0" err="1">
                <a:solidFill>
                  <a:srgbClr val="F8F9FA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nossos</a:t>
            </a:r>
            <a:r>
              <a:rPr lang="en-US" sz="7500" b="1" kern="0" spc="-225" dirty="0">
                <a:solidFill>
                  <a:srgbClr val="F8F9FA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 </a:t>
            </a:r>
            <a:r>
              <a:rPr lang="en-US" sz="7500" b="1" kern="0" spc="-225" dirty="0" err="1">
                <a:solidFill>
                  <a:srgbClr val="F8F9FA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resultados</a:t>
            </a:r>
            <a:endParaRPr lang="en-US" sz="7500" dirty="0">
              <a:latin typeface="Aptos Display" panose="020B0004020202020204" pitchFamily="3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57706" y="5048402"/>
            <a:ext cx="12413793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Capacitação interna Sebrae/PB sobre Painéis de Resultados de Atendimento.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238098" y="6286500"/>
            <a:ext cx="6858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F18805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Objetivo da nossa conversa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38098" y="6705295"/>
            <a:ext cx="68580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Entender o que cada indicador mede, de onde vêm os números e como interpretar corretamente cada painel de resultados estratégico.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57707" y="9577426"/>
            <a:ext cx="314827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Sebrae Paraíba • Capacitação SIME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358616" y="9506102"/>
            <a:ext cx="1076249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6358616" y="9506102"/>
            <a:ext cx="107716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9FA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1 / 18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27ada3ca70902e0b2c424fe870ae674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857707" y="2156347"/>
            <a:ext cx="5143500" cy="5885993"/>
          </a:xfrm>
          <a:prstGeom prst="rect">
            <a:avLst/>
          </a:prstGeom>
        </p:spPr>
      </p:pic>
      <p:pic>
        <p:nvPicPr>
          <p:cNvPr id="3" name="Image 1" descr="gen-dedup-927ada3ca70902e0b2c424fe870ae674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6286500" y="2156347"/>
            <a:ext cx="5143500" cy="5885993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716207" y="2156347"/>
            <a:ext cx="5715000" cy="5885993"/>
          </a:xfrm>
          <a:prstGeom prst="roundRect">
            <a:avLst>
              <a:gd name="adj" fmla="val 3485"/>
            </a:avLst>
          </a:prstGeom>
          <a:solidFill>
            <a:srgbClr val="002D6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3"/>
          <p:cNvSpPr/>
          <p:nvPr/>
        </p:nvSpPr>
        <p:spPr>
          <a:xfrm>
            <a:off x="857707" y="1790395"/>
            <a:ext cx="165735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 txBox="1"/>
          <p:nvPr/>
        </p:nvSpPr>
        <p:spPr>
          <a:xfrm>
            <a:off x="857707" y="714146"/>
            <a:ext cx="101352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Conceitos Fundamentais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57707" y="981151"/>
            <a:ext cx="1208471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Antes de começar: Atendimento ≠ </a:t>
            </a:r>
            <a:r>
              <a:rPr lang="en-US" sz="4050" b="1" kern="0" spc="-112" dirty="0" err="1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Cliente</a:t>
            </a:r>
            <a:r>
              <a:rPr lang="en-US" sz="4050" b="1" kern="0" spc="-112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 Atendido</a:t>
            </a:r>
            <a:endParaRPr lang="en-US" sz="4050" dirty="0"/>
          </a:p>
        </p:txBody>
      </p:sp>
      <p:sp>
        <p:nvSpPr>
          <p:cNvPr id="10" name="Text 6"/>
          <p:cNvSpPr txBox="1"/>
          <p:nvPr/>
        </p:nvSpPr>
        <p:spPr>
          <a:xfrm>
            <a:off x="16353130" y="1371600"/>
            <a:ext cx="1183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Sebrae/PB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38098" y="3165845"/>
            <a:ext cx="43818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Cliente atendido</a:t>
            </a:r>
            <a:endParaRPr lang="en-US" sz="2700" dirty="0"/>
          </a:p>
        </p:txBody>
      </p:sp>
      <p:sp>
        <p:nvSpPr>
          <p:cNvPr id="12" name="Text 8"/>
          <p:cNvSpPr txBox="1"/>
          <p:nvPr/>
        </p:nvSpPr>
        <p:spPr>
          <a:xfrm>
            <a:off x="1238098" y="3985147"/>
            <a:ext cx="4381805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Pessoa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Física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ou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Pequeno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Negócio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(CNPJ ou CPF) que recebeu pelo menos </a:t>
            </a:r>
            <a:r>
              <a:rPr lang="en-US" sz="28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um </a:t>
            </a:r>
            <a:r>
              <a:rPr lang="en-US" sz="2800" b="1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atendimento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aceito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dentro do período de referência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analisado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. </a:t>
            </a:r>
          </a:p>
          <a:p>
            <a:pPr marL="0" indent="0" algn="l">
              <a:lnSpc>
                <a:spcPts val="2880"/>
              </a:lnSpc>
              <a:buNone/>
            </a:pPr>
            <a:endParaRPr lang="en-US" sz="2800" b="1" u="sng" dirty="0">
              <a:solidFill>
                <a:srgbClr val="1E293B"/>
              </a:solidFill>
              <a:latin typeface="Aptos Display" panose="020B0004020202020204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2880"/>
              </a:lnSpc>
              <a:buNone/>
            </a:pPr>
            <a:r>
              <a:rPr lang="en-US" sz="2800" b="1" u="sng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2800" b="1" u="sng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contagem</a:t>
            </a:r>
            <a:r>
              <a:rPr lang="en-US" sz="2800" b="1" u="sng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é </a:t>
            </a:r>
            <a:r>
              <a:rPr lang="en-US" sz="2800" b="1" u="sng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por</a:t>
            </a:r>
            <a:r>
              <a:rPr lang="en-US" sz="2800" b="1" u="sng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b="1" u="sng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cliente</a:t>
            </a:r>
            <a:r>
              <a:rPr lang="en-US" sz="2800" b="1" u="sng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b="1" u="sng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único</a:t>
            </a:r>
            <a:r>
              <a:rPr lang="en-US" sz="2800" b="1" u="sng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800" b="1" u="sng" dirty="0"/>
          </a:p>
        </p:txBody>
      </p:sp>
      <p:sp>
        <p:nvSpPr>
          <p:cNvPr id="13" name="Shape 9"/>
          <p:cNvSpPr/>
          <p:nvPr/>
        </p:nvSpPr>
        <p:spPr>
          <a:xfrm>
            <a:off x="1238098" y="2536738"/>
            <a:ext cx="2095805" cy="390449"/>
          </a:xfrm>
          <a:prstGeom prst="roundRect">
            <a:avLst>
              <a:gd name="adj" fmla="val 50117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38098" y="2536738"/>
            <a:ext cx="2095805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01600" rIns="190500" bIns="101600" rtlCol="0" anchor="ctr"/>
          <a:lstStyle/>
          <a:p>
            <a:pPr marL="0" indent="0" algn="ctr">
              <a:buNone/>
            </a:pPr>
            <a:r>
              <a:rPr lang="en-US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Quem é contado</a:t>
            </a:r>
            <a:endParaRPr lang="en-US" dirty="0"/>
          </a:p>
        </p:txBody>
      </p:sp>
      <p:sp>
        <p:nvSpPr>
          <p:cNvPr id="15" name="Text 11"/>
          <p:cNvSpPr txBox="1"/>
          <p:nvPr/>
        </p:nvSpPr>
        <p:spPr>
          <a:xfrm>
            <a:off x="6667805" y="3165845"/>
            <a:ext cx="43818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Atendimento</a:t>
            </a:r>
            <a:endParaRPr lang="en-US" sz="2700" dirty="0"/>
          </a:p>
        </p:txBody>
      </p:sp>
      <p:sp>
        <p:nvSpPr>
          <p:cNvPr id="16" name="Text 12"/>
          <p:cNvSpPr txBox="1"/>
          <p:nvPr/>
        </p:nvSpPr>
        <p:spPr>
          <a:xfrm>
            <a:off x="6667805" y="3985147"/>
            <a:ext cx="43818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Cada </a:t>
            </a:r>
            <a:r>
              <a:rPr lang="en-US" sz="2800" b="1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interação</a:t>
            </a:r>
            <a:r>
              <a:rPr lang="en-US" sz="28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realizada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com o cliente. Representa o volume total de serviços e soluções prestadas no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período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2800" dirty="0">
              <a:solidFill>
                <a:srgbClr val="1E293B"/>
              </a:solidFill>
              <a:latin typeface="Aptos Display" panose="020B0004020202020204" pitchFamily="34" charset="0"/>
              <a:ea typeface="Inter" pitchFamily="34" charset="-122"/>
            </a:endParaRPr>
          </a:p>
          <a:p>
            <a:pPr>
              <a:lnSpc>
                <a:spcPts val="2700"/>
              </a:lnSpc>
            </a:pPr>
            <a:r>
              <a:rPr lang="en-US" sz="2800" b="1" u="sng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2800" b="1" u="sng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contagem</a:t>
            </a:r>
            <a:r>
              <a:rPr lang="en-US" sz="2800" b="1" u="sng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é </a:t>
            </a:r>
            <a:r>
              <a:rPr lang="en-US" sz="2800" b="1" u="sng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por</a:t>
            </a:r>
            <a:r>
              <a:rPr lang="en-US" sz="2800" b="1" u="sng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b="1" u="sng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interação</a:t>
            </a:r>
            <a:r>
              <a:rPr lang="en-US" sz="2800" b="1" u="sng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800" b="1" u="sng" dirty="0"/>
          </a:p>
          <a:p>
            <a:pPr marL="0" indent="0" algn="l">
              <a:lnSpc>
                <a:spcPts val="2700"/>
              </a:lnSpc>
              <a:buNone/>
            </a:pPr>
            <a:endParaRPr lang="en-US" sz="2800" dirty="0"/>
          </a:p>
        </p:txBody>
      </p:sp>
      <p:sp>
        <p:nvSpPr>
          <p:cNvPr id="17" name="Shape 13"/>
          <p:cNvSpPr/>
          <p:nvPr/>
        </p:nvSpPr>
        <p:spPr>
          <a:xfrm>
            <a:off x="6667805" y="6836907"/>
            <a:ext cx="4381805" cy="685800"/>
          </a:xfrm>
          <a:prstGeom prst="roundRect">
            <a:avLst>
              <a:gd name="adj" fmla="val 11067"/>
            </a:avLst>
          </a:prstGeom>
          <a:solidFill>
            <a:srgbClr val="FF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6667805" y="6836907"/>
            <a:ext cx="38405" cy="685800"/>
          </a:xfrm>
          <a:prstGeom prst="roundRect">
            <a:avLst>
              <a:gd name="adj" fmla="val 197618"/>
            </a:avLst>
          </a:prstGeom>
          <a:solidFill>
            <a:srgbClr val="E53E3E"/>
          </a:solidFill>
          <a:ln w="12700">
            <a:solidFill>
              <a:srgbClr val="E53E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 txBox="1"/>
          <p:nvPr/>
        </p:nvSpPr>
        <p:spPr>
          <a:xfrm>
            <a:off x="6667805" y="6820448"/>
            <a:ext cx="4381805" cy="70225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14300" rIns="152400" bIns="11430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⚠️ Observação:</a:t>
            </a:r>
            <a:endParaRPr lang="en-US" sz="15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 instrumento Informação não gera atendimento.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667805" y="2536738"/>
            <a:ext cx="2124151" cy="390449"/>
          </a:xfrm>
          <a:prstGeom prst="roundRect">
            <a:avLst>
              <a:gd name="adj" fmla="val 50117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6667805" y="2536738"/>
            <a:ext cx="2124151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01600" rIns="190500" bIns="101600" rtlCol="0" anchor="ctr"/>
          <a:lstStyle/>
          <a:p>
            <a:pPr marL="0" indent="0" algn="ctr">
              <a:buNone/>
            </a:pPr>
            <a:r>
              <a:rPr lang="en-US" b="1" kern="0" spc="75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 que é contado</a:t>
            </a:r>
            <a:endParaRPr lang="en-US" dirty="0"/>
          </a:p>
        </p:txBody>
      </p:sp>
      <p:sp>
        <p:nvSpPr>
          <p:cNvPr id="22" name="Text 18"/>
          <p:cNvSpPr txBox="1"/>
          <p:nvPr/>
        </p:nvSpPr>
        <p:spPr>
          <a:xfrm>
            <a:off x="12096598" y="2601864"/>
            <a:ext cx="495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13" dirty="0">
                <a:solidFill>
                  <a:srgbClr val="F18805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12096598" y="3791701"/>
            <a:ext cx="49533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0"/>
          <p:cNvSpPr txBox="1"/>
          <p:nvPr/>
        </p:nvSpPr>
        <p:spPr>
          <a:xfrm>
            <a:off x="12096598" y="3371991"/>
            <a:ext cx="495330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8F9FA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Empresa A</a:t>
            </a:r>
            <a:endParaRPr lang="en-US" sz="2100" dirty="0"/>
          </a:p>
        </p:txBody>
      </p:sp>
      <p:sp>
        <p:nvSpPr>
          <p:cNvPr id="25" name="Text 21"/>
          <p:cNvSpPr txBox="1"/>
          <p:nvPr/>
        </p:nvSpPr>
        <p:spPr>
          <a:xfrm>
            <a:off x="12096598" y="4011866"/>
            <a:ext cx="495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r>
              <a:rPr lang="en-US" sz="2800" dirty="0">
                <a:solidFill>
                  <a:srgbClr val="F8F9FA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1 </a:t>
            </a:r>
            <a:r>
              <a:rPr lang="en-US" sz="2800" dirty="0" err="1">
                <a:solidFill>
                  <a:srgbClr val="F8F9FA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Sebratec</a:t>
            </a:r>
            <a:endParaRPr lang="en-US" sz="2800" dirty="0"/>
          </a:p>
        </p:txBody>
      </p:sp>
      <p:sp>
        <p:nvSpPr>
          <p:cNvPr id="26" name="Text 22"/>
          <p:cNvSpPr txBox="1"/>
          <p:nvPr/>
        </p:nvSpPr>
        <p:spPr>
          <a:xfrm>
            <a:off x="12096598" y="4403229"/>
            <a:ext cx="495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r>
              <a:rPr lang="en-US" sz="2800" dirty="0">
                <a:solidFill>
                  <a:srgbClr val="F8F9FA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1 </a:t>
            </a:r>
            <a:r>
              <a:rPr lang="en-US" sz="2800" dirty="0" err="1">
                <a:solidFill>
                  <a:srgbClr val="F8F9FA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Empretec</a:t>
            </a:r>
            <a:endParaRPr lang="en-US" sz="2800" dirty="0"/>
          </a:p>
        </p:txBody>
      </p:sp>
      <p:sp>
        <p:nvSpPr>
          <p:cNvPr id="27" name="Text 23"/>
          <p:cNvSpPr txBox="1"/>
          <p:nvPr/>
        </p:nvSpPr>
        <p:spPr>
          <a:xfrm>
            <a:off x="12096598" y="4793678"/>
            <a:ext cx="495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r>
              <a:rPr lang="en-US" sz="2800" dirty="0">
                <a:solidFill>
                  <a:srgbClr val="F8F9FA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1 NF no portal </a:t>
            </a:r>
            <a:r>
              <a:rPr lang="en-US" sz="2800" dirty="0" err="1">
                <a:solidFill>
                  <a:srgbClr val="F8F9FA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Sebrae</a:t>
            </a:r>
            <a:endParaRPr lang="en-US" sz="2800" dirty="0"/>
          </a:p>
        </p:txBody>
      </p:sp>
      <p:sp>
        <p:nvSpPr>
          <p:cNvPr id="28" name="Text 24"/>
          <p:cNvSpPr txBox="1"/>
          <p:nvPr/>
        </p:nvSpPr>
        <p:spPr>
          <a:xfrm>
            <a:off x="12096598" y="5184127"/>
            <a:ext cx="495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r>
              <a:rPr lang="en-US" sz="2800" dirty="0">
                <a:solidFill>
                  <a:srgbClr val="F8F9FA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1 Palestra </a:t>
            </a:r>
            <a:r>
              <a:rPr lang="en-US" sz="2800" dirty="0" err="1">
                <a:solidFill>
                  <a:srgbClr val="F8F9FA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na</a:t>
            </a:r>
            <a:r>
              <a:rPr lang="en-US" sz="2800" dirty="0">
                <a:solidFill>
                  <a:srgbClr val="F8F9FA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FE</a:t>
            </a:r>
            <a:endParaRPr lang="en-US" sz="2800" dirty="0"/>
          </a:p>
        </p:txBody>
      </p:sp>
      <p:sp>
        <p:nvSpPr>
          <p:cNvPr id="29" name="Shape 25"/>
          <p:cNvSpPr/>
          <p:nvPr/>
        </p:nvSpPr>
        <p:spPr>
          <a:xfrm>
            <a:off x="12096598" y="6555016"/>
            <a:ext cx="4953305" cy="743407"/>
          </a:xfrm>
          <a:prstGeom prst="roundRect">
            <a:avLst>
              <a:gd name="adj" fmla="val 1020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6"/>
          <p:cNvSpPr txBox="1"/>
          <p:nvPr/>
        </p:nvSpPr>
        <p:spPr>
          <a:xfrm>
            <a:off x="12296851" y="6690143"/>
            <a:ext cx="4643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err="1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Resultado</a:t>
            </a:r>
            <a:r>
              <a:rPr lang="en-US" b="1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b="1" dirty="0" err="1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consolidado</a:t>
            </a:r>
            <a:endParaRPr lang="en-US" b="1" dirty="0">
              <a:solidFill>
                <a:srgbClr val="94A3B8"/>
              </a:solidFill>
              <a:latin typeface="Aptos Display" panose="020B0004020202020204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4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1</a:t>
            </a:r>
            <a:r>
              <a:rPr lang="en-US" sz="2400" b="1" dirty="0">
                <a:solidFill>
                  <a:srgbClr val="F8F9FA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Cliente Atendido </a:t>
            </a:r>
            <a:r>
              <a:rPr lang="en-US" sz="2400" b="1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| </a:t>
            </a:r>
            <a:r>
              <a:rPr lang="en-US" sz="24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4</a:t>
            </a:r>
            <a:r>
              <a:rPr lang="en-US" sz="2400" b="1" dirty="0">
                <a:solidFill>
                  <a:srgbClr val="F8F9FA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Atendimentos</a:t>
            </a:r>
            <a:endParaRPr lang="en-US" sz="2400" dirty="0"/>
          </a:p>
        </p:txBody>
      </p:sp>
      <p:sp>
        <p:nvSpPr>
          <p:cNvPr id="32" name="Text 28"/>
          <p:cNvSpPr txBox="1"/>
          <p:nvPr/>
        </p:nvSpPr>
        <p:spPr>
          <a:xfrm>
            <a:off x="857707" y="9577426"/>
            <a:ext cx="31629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Monitoramento da Estratégia • Sebrae/PB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6328441" y="9506102"/>
            <a:ext cx="1104595" cy="304495"/>
          </a:xfrm>
          <a:prstGeom prst="roundRect">
            <a:avLst>
              <a:gd name="adj" fmla="val 5015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0"/>
          <p:cNvSpPr/>
          <p:nvPr/>
        </p:nvSpPr>
        <p:spPr>
          <a:xfrm>
            <a:off x="16328441" y="9506102"/>
            <a:ext cx="11055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2 / 18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065c10f062150e4df8ba75fca05f1aa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857707" y="1978711"/>
            <a:ext cx="7619695" cy="7069886"/>
          </a:xfrm>
          <a:prstGeom prst="rect">
            <a:avLst/>
          </a:prstGeom>
        </p:spPr>
      </p:pic>
      <p:pic>
        <p:nvPicPr>
          <p:cNvPr id="3" name="Image 1" descr="gen-dedup-4065c10f062150e4df8ba75fca05f1aa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9810598" y="1978711"/>
            <a:ext cx="7619695" cy="7069886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857707" y="1790395"/>
            <a:ext cx="165735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2"/>
          <p:cNvSpPr txBox="1"/>
          <p:nvPr/>
        </p:nvSpPr>
        <p:spPr>
          <a:xfrm>
            <a:off x="857707" y="714146"/>
            <a:ext cx="91540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Regras de Contabilização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857707" y="981151"/>
            <a:ext cx="17201693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pt-BR" sz="4050" b="1" kern="0" spc="-112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Painéis: Clientes Atendidos e Atendimentos x Metas Mobilizadoras </a:t>
            </a:r>
          </a:p>
        </p:txBody>
      </p:sp>
      <p:sp>
        <p:nvSpPr>
          <p:cNvPr id="9" name="Text 4"/>
          <p:cNvSpPr txBox="1"/>
          <p:nvPr/>
        </p:nvSpPr>
        <p:spPr>
          <a:xfrm>
            <a:off x="16353130" y="1371600"/>
            <a:ext cx="1183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Sebrae/PB</a:t>
            </a:r>
            <a:endParaRPr lang="en-US" sz="1500" dirty="0"/>
          </a:p>
        </p:txBody>
      </p:sp>
      <p:pic>
        <p:nvPicPr>
          <p:cNvPr id="10" name="Image 3" descr="gen-dedup-35a5a619c8c528bd52b3b5f22f80a53a.png"/>
          <p:cNvPicPr>
            <a:picLocks noChangeAspect="1"/>
          </p:cNvPicPr>
          <p:nvPr/>
        </p:nvPicPr>
        <p:blipFill>
          <a:blip r:embed="rId4"/>
          <a:srcRect l="-697" r="-697"/>
          <a:stretch/>
        </p:blipFill>
        <p:spPr>
          <a:xfrm>
            <a:off x="8862365" y="4934102"/>
            <a:ext cx="571500" cy="41879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862365" y="4934102"/>
            <a:ext cx="571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1500" dirty="0"/>
          </a:p>
        </p:txBody>
      </p:sp>
      <p:sp>
        <p:nvSpPr>
          <p:cNvPr id="12" name="Text 6"/>
          <p:cNvSpPr txBox="1"/>
          <p:nvPr/>
        </p:nvSpPr>
        <p:spPr>
          <a:xfrm>
            <a:off x="1238098" y="3092638"/>
            <a:ext cx="6858000" cy="46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2700" b="1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defRPr>
            </a:lvl1pPr>
          </a:lstStyle>
          <a:p>
            <a:r>
              <a:rPr lang="en-US" dirty="0"/>
              <a:t>Painel de Clientes Atendidos e </a:t>
            </a:r>
            <a:r>
              <a:rPr lang="en-US" dirty="0" err="1"/>
              <a:t>Atendimentos</a:t>
            </a:r>
            <a:endParaRPr lang="en-US" dirty="0"/>
          </a:p>
        </p:txBody>
      </p:sp>
      <p:sp>
        <p:nvSpPr>
          <p:cNvPr id="14" name="Text 8"/>
          <p:cNvSpPr txBox="1"/>
          <p:nvPr/>
        </p:nvSpPr>
        <p:spPr>
          <a:xfrm>
            <a:off x="1238098" y="3857396"/>
            <a:ext cx="6348678" cy="4345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Olha diretamente para a </a:t>
            </a:r>
            <a:r>
              <a:rPr lang="en-US" sz="2800" b="1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atuação</a:t>
            </a:r>
            <a:r>
              <a:rPr lang="en-US" sz="28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b="1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operacional</a:t>
            </a:r>
            <a:r>
              <a:rPr lang="en-US" sz="28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 do Sebrae/PB.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E293B"/>
              </a:solidFill>
              <a:latin typeface="Aptos Display" panose="020B0004020202020204" pitchFamily="34" charset="0"/>
              <a:ea typeface="Inter" pitchFamily="34" charset="-122"/>
              <a:cs typeface="Inter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Inclui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clientes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outras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UFs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que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foram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atendidos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pelo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Sebrae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/PB.</a:t>
            </a:r>
            <a:endParaRPr lang="en-US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Inclui</a:t>
            </a:r>
            <a:r>
              <a:rPr lang="en-US" sz="28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b="1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empresas</a:t>
            </a:r>
            <a:r>
              <a:rPr lang="en-US" sz="28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b="1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paraibanas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atendidas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diretamente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pelo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Sebrae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Nacional (</a:t>
            </a:r>
            <a:r>
              <a:rPr lang="en-US" sz="2800" dirty="0" err="1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Sebrae</a:t>
            </a:r>
            <a:r>
              <a:rPr lang="en-US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/NA).</a:t>
            </a:r>
            <a:endParaRPr lang="en-US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21" name="Shape 15"/>
          <p:cNvSpPr/>
          <p:nvPr/>
        </p:nvSpPr>
        <p:spPr>
          <a:xfrm>
            <a:off x="1238098" y="2381098"/>
            <a:ext cx="2124151" cy="381305"/>
          </a:xfrm>
          <a:prstGeom prst="roundRect">
            <a:avLst>
              <a:gd name="adj" fmla="val 4988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6"/>
          <p:cNvSpPr/>
          <p:nvPr/>
        </p:nvSpPr>
        <p:spPr>
          <a:xfrm>
            <a:off x="1238098" y="2381098"/>
            <a:ext cx="2124151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01600" rIns="190500" bIns="101600" rtlCol="0" anchor="ctr"/>
          <a:lstStyle/>
          <a:p>
            <a:pPr marL="0" indent="0" algn="ctr">
              <a:buNone/>
            </a:pPr>
            <a:r>
              <a:rPr lang="en-US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Foco na Operação</a:t>
            </a:r>
            <a:endParaRPr lang="en-US" dirty="0"/>
          </a:p>
        </p:txBody>
      </p:sp>
      <p:sp>
        <p:nvSpPr>
          <p:cNvPr id="23" name="Text 17"/>
          <p:cNvSpPr txBox="1"/>
          <p:nvPr/>
        </p:nvSpPr>
        <p:spPr>
          <a:xfrm>
            <a:off x="10191902" y="3092638"/>
            <a:ext cx="6858000" cy="46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Painel de Metas Mobilizadoras</a:t>
            </a:r>
            <a:endParaRPr lang="en-US" sz="2700" dirty="0"/>
          </a:p>
        </p:txBody>
      </p:sp>
      <p:sp>
        <p:nvSpPr>
          <p:cNvPr id="32" name="Shape 26"/>
          <p:cNvSpPr/>
          <p:nvPr/>
        </p:nvSpPr>
        <p:spPr>
          <a:xfrm>
            <a:off x="10191902" y="2381098"/>
            <a:ext cx="2210105" cy="381305"/>
          </a:xfrm>
          <a:prstGeom prst="roundRect">
            <a:avLst>
              <a:gd name="adj" fmla="val 49880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7"/>
          <p:cNvSpPr/>
          <p:nvPr/>
        </p:nvSpPr>
        <p:spPr>
          <a:xfrm>
            <a:off x="10191902" y="2381098"/>
            <a:ext cx="22101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01600" rIns="190500" bIns="101600" rtlCol="0" anchor="ctr"/>
          <a:lstStyle/>
          <a:p>
            <a:pPr marL="0" indent="0" algn="ctr">
              <a:buNone/>
            </a:pPr>
            <a:r>
              <a:rPr lang="en-US" b="1" kern="0" spc="75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Foco no Território</a:t>
            </a:r>
            <a:endParaRPr lang="en-US" dirty="0"/>
          </a:p>
        </p:txBody>
      </p:sp>
      <p:sp>
        <p:nvSpPr>
          <p:cNvPr id="35" name="Text 29"/>
          <p:cNvSpPr txBox="1"/>
          <p:nvPr/>
        </p:nvSpPr>
        <p:spPr>
          <a:xfrm>
            <a:off x="857707" y="9577426"/>
            <a:ext cx="31629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Monitoramento da Estratégia • Sebrae/PB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16325698" y="9506102"/>
            <a:ext cx="1104595" cy="304495"/>
          </a:xfrm>
          <a:prstGeom prst="roundRect">
            <a:avLst>
              <a:gd name="adj" fmla="val 5015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1"/>
          <p:cNvSpPr/>
          <p:nvPr/>
        </p:nvSpPr>
        <p:spPr>
          <a:xfrm>
            <a:off x="16325698" y="9506102"/>
            <a:ext cx="11055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3 / 18</a:t>
            </a:r>
            <a:endParaRPr lang="en-US" sz="120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CA99BD16-C757-1234-6DB4-0CC41E925956}"/>
              </a:ext>
            </a:extLst>
          </p:cNvPr>
          <p:cNvSpPr txBox="1"/>
          <p:nvPr/>
        </p:nvSpPr>
        <p:spPr>
          <a:xfrm>
            <a:off x="10191902" y="3857396"/>
            <a:ext cx="6348678" cy="4345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Olha com foco no </a:t>
            </a:r>
            <a:r>
              <a:rPr lang="pt-BR" sz="28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público-alvo paraibano.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E293B"/>
              </a:solidFill>
              <a:latin typeface="Aptos Display" panose="020B0004020202020204" pitchFamily="34" charset="0"/>
              <a:ea typeface="Inter" pitchFamily="34" charset="-122"/>
              <a:cs typeface="Inter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Não contabiliza </a:t>
            </a:r>
            <a:r>
              <a:rPr lang="pt-BR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empresas com cadastro de outros estados, mesmo atendidas pelo PB.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Contabiliza empresa paraibana </a:t>
            </a:r>
            <a:r>
              <a:rPr lang="pt-BR" sz="28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que tenha sido atendida por outro Sebrae/UF no Brasil.</a:t>
            </a:r>
          </a:p>
          <a:p>
            <a:pPr algn="l"/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57707" y="1790395"/>
            <a:ext cx="165735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57707" y="714146"/>
            <a:ext cx="76398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Matriz de Contabilização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7707" y="981151"/>
            <a:ext cx="8734349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Um exemplo para não esquecer</a:t>
            </a:r>
            <a:endParaRPr lang="en-US" sz="4050" dirty="0"/>
          </a:p>
        </p:txBody>
      </p:sp>
      <p:sp>
        <p:nvSpPr>
          <p:cNvPr id="6" name="Text 4"/>
          <p:cNvSpPr txBox="1"/>
          <p:nvPr/>
        </p:nvSpPr>
        <p:spPr>
          <a:xfrm>
            <a:off x="16353130" y="1371600"/>
            <a:ext cx="1183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Sebrae/PB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705967"/>
              </p:ext>
            </p:extLst>
          </p:nvPr>
        </p:nvGraphicFramePr>
        <p:xfrm>
          <a:off x="857707" y="2000707"/>
          <a:ext cx="16564356" cy="5193790"/>
        </p:xfrm>
        <a:graphic>
          <a:graphicData uri="http://schemas.openxmlformats.org/drawingml/2006/table">
            <a:tbl>
              <a:tblPr/>
              <a:tblGrid>
                <a:gridCol w="6625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9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  <a:ea typeface="Noto Sans PT" pitchFamily="34" charset="-122"/>
                          <a:cs typeface="Noto Sans PT" pitchFamily="34" charset="-120"/>
                        </a:rPr>
                        <a:t>Caso / Cenário Prático</a:t>
                      </a:r>
                      <a:endParaRPr lang="en-US" sz="2400" dirty="0">
                        <a:latin typeface="Aptos Display" panose="020B0004020202020204" pitchFamily="34" charset="0"/>
                        <a:ea typeface="Noto Sans PT" charset="0"/>
                        <a:cs typeface="Noto Sans PT" charset="0"/>
                      </a:endParaRPr>
                    </a:p>
                  </a:txBody>
                  <a:tcPr marL="190195" marR="190195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  <a:ea typeface="Noto Sans PT" pitchFamily="34" charset="-122"/>
                          <a:cs typeface="Noto Sans PT" pitchFamily="34" charset="-120"/>
                        </a:rPr>
                        <a:t>Painel de Clientes Atendidos</a:t>
                      </a:r>
                      <a:endParaRPr lang="en-US" sz="2400" dirty="0">
                        <a:latin typeface="Aptos Display" panose="020B0004020202020204" pitchFamily="34" charset="0"/>
                        <a:ea typeface="Noto Sans PT" charset="0"/>
                        <a:cs typeface="Noto Sans PT" charset="0"/>
                      </a:endParaRPr>
                    </a:p>
                  </a:txBody>
                  <a:tcPr marL="190195" marR="190195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  <a:ea typeface="Noto Sans PT" pitchFamily="34" charset="-122"/>
                          <a:cs typeface="Noto Sans PT" pitchFamily="34" charset="-120"/>
                        </a:rPr>
                        <a:t>Painel de Metas </a:t>
                      </a:r>
                      <a:r>
                        <a:rPr lang="en-US" sz="2400" b="1" dirty="0" err="1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  <a:ea typeface="Noto Sans PT" pitchFamily="34" charset="-122"/>
                          <a:cs typeface="Noto Sans PT" pitchFamily="34" charset="-120"/>
                        </a:rPr>
                        <a:t>Mobilizadoras</a:t>
                      </a:r>
                      <a:endParaRPr lang="en-US" sz="2400" dirty="0">
                        <a:latin typeface="Aptos Display" panose="020B0004020202020204" pitchFamily="34" charset="0"/>
                        <a:ea typeface="Noto Sans PT" charset="0"/>
                        <a:cs typeface="Noto Sans PT" charset="0"/>
                      </a:endParaRPr>
                    </a:p>
                  </a:txBody>
                  <a:tcPr marL="190195" marR="190195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Empresa da Paraíba</a:t>
                      </a:r>
                      <a:r>
                        <a:rPr lang="en-US" sz="2400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 atendida </a:t>
                      </a:r>
                      <a:r>
                        <a:rPr lang="en-US" sz="2400" dirty="0" err="1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pelo</a:t>
                      </a:r>
                      <a:r>
                        <a:rPr lang="en-US" sz="2400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400" b="1" dirty="0" err="1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Sebrae</a:t>
                      </a: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/PB</a:t>
                      </a:r>
                      <a:endParaRPr lang="en-US" sz="2400" dirty="0"/>
                    </a:p>
                  </a:txBody>
                  <a:tcPr marL="190195" marR="190195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400" dirty="0"/>
                    </a:p>
                  </a:txBody>
                  <a:tcPr marL="190195" marR="190195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400" dirty="0"/>
                    </a:p>
                  </a:txBody>
                  <a:tcPr marL="190195" marR="190195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Empresa de Pernambuco</a:t>
                      </a:r>
                      <a:r>
                        <a:rPr lang="en-US" sz="2400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 atendida pelo </a:t>
                      </a: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Sebrae/PB</a:t>
                      </a:r>
                      <a:endParaRPr lang="en-US" sz="2400" dirty="0"/>
                    </a:p>
                  </a:txBody>
                  <a:tcPr marL="190195" marR="190195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400" dirty="0"/>
                    </a:p>
                  </a:txBody>
                  <a:tcPr marL="190195" marR="190195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400" dirty="0"/>
                    </a:p>
                  </a:txBody>
                  <a:tcPr marL="190195" marR="190195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Empresa da Paraíba</a:t>
                      </a:r>
                      <a:r>
                        <a:rPr lang="en-US" sz="2400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 atendida </a:t>
                      </a:r>
                      <a:r>
                        <a:rPr lang="en-US" sz="2400" dirty="0" err="1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pelo</a:t>
                      </a:r>
                      <a:r>
                        <a:rPr lang="en-US" sz="2400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400" b="1" dirty="0" err="1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Sebrae</a:t>
                      </a: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/PE</a:t>
                      </a:r>
                      <a:endParaRPr lang="en-US" sz="2400" dirty="0"/>
                    </a:p>
                  </a:txBody>
                  <a:tcPr marL="190195" marR="190195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400" dirty="0"/>
                    </a:p>
                  </a:txBody>
                  <a:tcPr marL="190195" marR="190195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400" dirty="0"/>
                    </a:p>
                  </a:txBody>
                  <a:tcPr marL="190195" marR="190195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Empresa da Paraíba</a:t>
                      </a:r>
                      <a:r>
                        <a:rPr lang="en-US" sz="2400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atendida</a:t>
                      </a:r>
                      <a:r>
                        <a:rPr lang="en-US" sz="2400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pelo</a:t>
                      </a:r>
                      <a:endParaRPr lang="en-US" sz="2400" dirty="0">
                        <a:solidFill>
                          <a:srgbClr val="1E293B"/>
                        </a:solidFill>
                        <a:latin typeface="Aptos Display" panose="020B0004020202020204" pitchFamily="34" charset="0"/>
                        <a:ea typeface="Inter" pitchFamily="34" charset="-122"/>
                        <a:cs typeface="Inter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2400" b="1" dirty="0" err="1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Sebrae</a:t>
                      </a: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 Nacional</a:t>
                      </a:r>
                      <a:endParaRPr lang="en-US" sz="2400" dirty="0"/>
                    </a:p>
                  </a:txBody>
                  <a:tcPr marL="190195" marR="190195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400" dirty="0"/>
                    </a:p>
                  </a:txBody>
                  <a:tcPr marL="190195" marR="190195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400" dirty="0"/>
                    </a:p>
                  </a:txBody>
                  <a:tcPr marL="190195" marR="190195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857707" y="9577426"/>
            <a:ext cx="31629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Monitoramento da Estratégia • Sebrae/PB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6321126" y="9506102"/>
            <a:ext cx="1114654" cy="304495"/>
          </a:xfrm>
          <a:prstGeom prst="roundRect">
            <a:avLst>
              <a:gd name="adj" fmla="val 5015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6321126" y="9506102"/>
            <a:ext cx="111465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4 / 18</a:t>
            </a:r>
            <a:endParaRPr lang="en-US" sz="1200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47269CD-B46E-5904-2500-DB60644CCF59}"/>
              </a:ext>
            </a:extLst>
          </p:cNvPr>
          <p:cNvSpPr/>
          <p:nvPr/>
        </p:nvSpPr>
        <p:spPr>
          <a:xfrm>
            <a:off x="8610600" y="2958897"/>
            <a:ext cx="2679700" cy="5588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✔ SIM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433EA00-C63E-EAD7-AB17-C301A3F2E2FC}"/>
              </a:ext>
            </a:extLst>
          </p:cNvPr>
          <p:cNvSpPr/>
          <p:nvPr/>
        </p:nvSpPr>
        <p:spPr>
          <a:xfrm>
            <a:off x="13779500" y="2958897"/>
            <a:ext cx="2679700" cy="5588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✔ SIM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FA21DD02-BA46-BF7D-A7B8-7E59934A06B3}"/>
              </a:ext>
            </a:extLst>
          </p:cNvPr>
          <p:cNvSpPr/>
          <p:nvPr/>
        </p:nvSpPr>
        <p:spPr>
          <a:xfrm>
            <a:off x="8610600" y="4095327"/>
            <a:ext cx="2679700" cy="5588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✔ SIM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381AA02-3959-824A-75A5-B706AE04B4F0}"/>
              </a:ext>
            </a:extLst>
          </p:cNvPr>
          <p:cNvSpPr/>
          <p:nvPr/>
        </p:nvSpPr>
        <p:spPr>
          <a:xfrm>
            <a:off x="8610600" y="6368186"/>
            <a:ext cx="2679700" cy="5588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✔ SIM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98CF820-050B-C08C-5639-EA6B847EBF86}"/>
              </a:ext>
            </a:extLst>
          </p:cNvPr>
          <p:cNvSpPr/>
          <p:nvPr/>
        </p:nvSpPr>
        <p:spPr>
          <a:xfrm>
            <a:off x="13779500" y="6368186"/>
            <a:ext cx="2679700" cy="5588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✔ SIM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A38C5C4-12C7-EE87-6734-5E424820C58C}"/>
              </a:ext>
            </a:extLst>
          </p:cNvPr>
          <p:cNvSpPr/>
          <p:nvPr/>
        </p:nvSpPr>
        <p:spPr>
          <a:xfrm>
            <a:off x="13779500" y="5231757"/>
            <a:ext cx="2679700" cy="5588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✔ SIM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149F036-6517-8B40-E998-00BAC55853E1}"/>
              </a:ext>
            </a:extLst>
          </p:cNvPr>
          <p:cNvSpPr/>
          <p:nvPr/>
        </p:nvSpPr>
        <p:spPr>
          <a:xfrm>
            <a:off x="8610600" y="5231757"/>
            <a:ext cx="2679700" cy="5588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✘ NÃO 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6BEBEF1A-8E2E-6A76-7A6F-43DC471062E1}"/>
              </a:ext>
            </a:extLst>
          </p:cNvPr>
          <p:cNvSpPr/>
          <p:nvPr/>
        </p:nvSpPr>
        <p:spPr>
          <a:xfrm>
            <a:off x="13779500" y="4095327"/>
            <a:ext cx="2679700" cy="5588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✘ NÃO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91ce4418140835584233eeef27f65ce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857707" y="2000707"/>
            <a:ext cx="5333695" cy="271485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2144" y="2295144"/>
            <a:ext cx="761695" cy="276149"/>
          </a:xfrm>
          <a:prstGeom prst="roundRect">
            <a:avLst>
              <a:gd name="adj" fmla="val 5000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500"/>
          </a:p>
        </p:txBody>
      </p:sp>
      <p:sp>
        <p:nvSpPr>
          <p:cNvPr id="4" name="Text 1"/>
          <p:cNvSpPr/>
          <p:nvPr/>
        </p:nvSpPr>
        <p:spPr>
          <a:xfrm>
            <a:off x="1152144" y="2295144"/>
            <a:ext cx="7626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1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152144" y="2714854"/>
            <a:ext cx="4743907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NPS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3181198"/>
            <a:ext cx="4743907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200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Grau de recomendação do Sebrae pelo cliente</a:t>
            </a:r>
            <a:endParaRPr lang="en-US" sz="2000" dirty="0"/>
          </a:p>
        </p:txBody>
      </p:sp>
      <p:pic>
        <p:nvPicPr>
          <p:cNvPr id="7" name="Image 1" descr="gen-dedup-b91ce4418140835584233eeef27f65ce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6476695" y="2000707"/>
            <a:ext cx="5333695" cy="271485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772046" y="2295144"/>
            <a:ext cx="790956" cy="276149"/>
          </a:xfrm>
          <a:prstGeom prst="roundRect">
            <a:avLst>
              <a:gd name="adj" fmla="val 50000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500"/>
          </a:p>
        </p:txBody>
      </p:sp>
      <p:sp>
        <p:nvSpPr>
          <p:cNvPr id="9" name="Text 5"/>
          <p:cNvSpPr/>
          <p:nvPr/>
        </p:nvSpPr>
        <p:spPr>
          <a:xfrm>
            <a:off x="6772046" y="2295144"/>
            <a:ext cx="79095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1500" b="1" kern="0" spc="75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2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772046" y="2714854"/>
            <a:ext cx="4743907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ME + EPP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6772046" y="3181198"/>
            <a:ext cx="4743907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200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Percentual de Microempresas (ME) e Empresas de Pequeno Porte (EPP) atendidas pelo Sebrae no ano. </a:t>
            </a:r>
            <a:endParaRPr lang="en-US" sz="2000" dirty="0"/>
          </a:p>
        </p:txBody>
      </p:sp>
      <p:pic>
        <p:nvPicPr>
          <p:cNvPr id="12" name="Image 2" descr="gen-dedup-b91ce4418140835584233eeef27f65ce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12096598" y="2000707"/>
            <a:ext cx="5333695" cy="271485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2391949" y="2295144"/>
            <a:ext cx="790956" cy="276149"/>
          </a:xfrm>
          <a:prstGeom prst="roundRect">
            <a:avLst>
              <a:gd name="adj" fmla="val 5000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500"/>
          </a:p>
        </p:txBody>
      </p:sp>
      <p:sp>
        <p:nvSpPr>
          <p:cNvPr id="14" name="Text 9"/>
          <p:cNvSpPr/>
          <p:nvPr/>
        </p:nvSpPr>
        <p:spPr>
          <a:xfrm>
            <a:off x="12391949" y="2295144"/>
            <a:ext cx="79095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3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391949" y="2714854"/>
            <a:ext cx="4743907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MEI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12391949" y="3181198"/>
            <a:ext cx="4743907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200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Percentual de Microempreendedores Individuais (MEI) atendidos pelo Sebrae no ano.</a:t>
            </a:r>
            <a:endParaRPr lang="en-US" sz="2000" dirty="0"/>
          </a:p>
        </p:txBody>
      </p:sp>
      <p:pic>
        <p:nvPicPr>
          <p:cNvPr id="17" name="Image 3" descr="gen-dedup-b91ce4418140835584233eeef27f65ce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857707" y="5000854"/>
            <a:ext cx="5333695" cy="271485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152144" y="5296205"/>
            <a:ext cx="790956" cy="276149"/>
          </a:xfrm>
          <a:prstGeom prst="roundRect">
            <a:avLst>
              <a:gd name="adj" fmla="val 5000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500"/>
          </a:p>
        </p:txBody>
      </p:sp>
      <p:sp>
        <p:nvSpPr>
          <p:cNvPr id="19" name="Text 13"/>
          <p:cNvSpPr/>
          <p:nvPr/>
        </p:nvSpPr>
        <p:spPr>
          <a:xfrm>
            <a:off x="1152144" y="5296205"/>
            <a:ext cx="79095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4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152144" y="5715000"/>
            <a:ext cx="4743907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Engajamento</a:t>
            </a:r>
            <a:endParaRPr lang="en-US" sz="2400" dirty="0"/>
          </a:p>
        </p:txBody>
      </p:sp>
      <p:sp>
        <p:nvSpPr>
          <p:cNvPr id="21" name="Text 15"/>
          <p:cNvSpPr txBox="1"/>
          <p:nvPr/>
        </p:nvSpPr>
        <p:spPr>
          <a:xfrm>
            <a:off x="1152144" y="6181344"/>
            <a:ext cx="4743907" cy="9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200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Percentual dos pequenos negócios atendidos pelo Sebrae considerados como engajados.</a:t>
            </a:r>
            <a:endParaRPr lang="en-US" sz="2000" dirty="0"/>
          </a:p>
        </p:txBody>
      </p:sp>
      <p:pic>
        <p:nvPicPr>
          <p:cNvPr id="22" name="Image 4" descr="gen-dedup-b91ce4418140835584233eeef27f65ce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6476695" y="5000854"/>
            <a:ext cx="5333695" cy="271485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772046" y="5296205"/>
            <a:ext cx="790956" cy="276149"/>
          </a:xfrm>
          <a:prstGeom prst="roundRect">
            <a:avLst>
              <a:gd name="adj" fmla="val 50000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500"/>
          </a:p>
        </p:txBody>
      </p:sp>
      <p:sp>
        <p:nvSpPr>
          <p:cNvPr id="24" name="Text 17"/>
          <p:cNvSpPr/>
          <p:nvPr/>
        </p:nvSpPr>
        <p:spPr>
          <a:xfrm>
            <a:off x="6772046" y="5296205"/>
            <a:ext cx="79095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1500" b="1" kern="0" spc="75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5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6772046" y="5715000"/>
            <a:ext cx="4743907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Grupos Sub-representados</a:t>
            </a:r>
            <a:endParaRPr lang="en-US" sz="2400" dirty="0"/>
          </a:p>
        </p:txBody>
      </p:sp>
      <p:sp>
        <p:nvSpPr>
          <p:cNvPr id="26" name="Text 19"/>
          <p:cNvSpPr txBox="1"/>
          <p:nvPr/>
        </p:nvSpPr>
        <p:spPr>
          <a:xfrm>
            <a:off x="6772046" y="6181344"/>
            <a:ext cx="4743907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200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Proporção de atendimentos do Sebrae às pessoas dos grupos </a:t>
            </a:r>
            <a:r>
              <a:rPr lang="pt-BR" sz="2000" dirty="0" err="1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sub-representados</a:t>
            </a:r>
            <a:r>
              <a:rPr lang="pt-BR" sz="200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em relação à proporção populacional por tipo de grupo </a:t>
            </a:r>
            <a:r>
              <a:rPr lang="pt-BR" sz="2000" dirty="0" err="1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sub-representado</a:t>
            </a:r>
            <a:r>
              <a:rPr lang="pt-BR" sz="200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2000" dirty="0"/>
          </a:p>
        </p:txBody>
      </p:sp>
      <p:pic>
        <p:nvPicPr>
          <p:cNvPr id="27" name="Image 5" descr="gen-dedup-b91ce4418140835584233eeef27f65ce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12096598" y="5000854"/>
            <a:ext cx="5333695" cy="271485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12391949" y="5296205"/>
            <a:ext cx="790956" cy="276149"/>
          </a:xfrm>
          <a:prstGeom prst="roundRect">
            <a:avLst>
              <a:gd name="adj" fmla="val 5000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500"/>
          </a:p>
        </p:txBody>
      </p:sp>
      <p:sp>
        <p:nvSpPr>
          <p:cNvPr id="29" name="Text 21"/>
          <p:cNvSpPr/>
          <p:nvPr/>
        </p:nvSpPr>
        <p:spPr>
          <a:xfrm>
            <a:off x="12391949" y="5296205"/>
            <a:ext cx="79095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6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2391949" y="5715000"/>
            <a:ext cx="4743907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REB + Convênio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12391949" y="6181344"/>
            <a:ext cx="4743907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Resultados gerados via Rede Estadual de Atendimento e parcerias em convênios de cooperação estratégica.</a:t>
            </a:r>
            <a:endParaRPr lang="en-US" sz="2000" dirty="0"/>
          </a:p>
        </p:txBody>
      </p:sp>
      <p:sp>
        <p:nvSpPr>
          <p:cNvPr id="33" name="Shape 25"/>
          <p:cNvSpPr/>
          <p:nvPr/>
        </p:nvSpPr>
        <p:spPr>
          <a:xfrm>
            <a:off x="857707" y="1790395"/>
            <a:ext cx="165735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26"/>
          <p:cNvSpPr txBox="1"/>
          <p:nvPr/>
        </p:nvSpPr>
        <p:spPr>
          <a:xfrm>
            <a:off x="857707" y="714146"/>
            <a:ext cx="97063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Direcionamento Estratégico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857707" y="981151"/>
            <a:ext cx="1147572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As 6 Metas Mobilizadoras do Sebrae/PB</a:t>
            </a:r>
            <a:endParaRPr lang="en-US" sz="4050" dirty="0"/>
          </a:p>
        </p:txBody>
      </p:sp>
      <p:sp>
        <p:nvSpPr>
          <p:cNvPr id="36" name="Text 28"/>
          <p:cNvSpPr txBox="1"/>
          <p:nvPr/>
        </p:nvSpPr>
        <p:spPr>
          <a:xfrm>
            <a:off x="16353130" y="1371600"/>
            <a:ext cx="1183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Sebrae/PB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857707" y="9577426"/>
            <a:ext cx="31629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Monitoramento da Estratégia • Sebrae/PB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16335756" y="9506102"/>
            <a:ext cx="1095451" cy="304495"/>
          </a:xfrm>
          <a:prstGeom prst="roundRect">
            <a:avLst>
              <a:gd name="adj" fmla="val 5015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2"/>
          <p:cNvSpPr/>
          <p:nvPr/>
        </p:nvSpPr>
        <p:spPr>
          <a:xfrm>
            <a:off x="16335756" y="9506102"/>
            <a:ext cx="109545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7 / 18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1b3b1ad6bf4551f97ce52ba638cd754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857707" y="2000707"/>
            <a:ext cx="10287000" cy="6800393"/>
          </a:xfrm>
          <a:prstGeom prst="rect">
            <a:avLst/>
          </a:prstGeom>
        </p:spPr>
      </p:pic>
      <p:pic>
        <p:nvPicPr>
          <p:cNvPr id="3" name="Image 1" descr="gen-dedup-b2763c3b3932918a9ed90c71a7c93b3b.png"/>
          <p:cNvPicPr>
            <a:picLocks noChangeAspect="1"/>
          </p:cNvPicPr>
          <p:nvPr/>
        </p:nvPicPr>
        <p:blipFill>
          <a:blip r:embed="rId4"/>
          <a:srcRect l="-7" r="-7"/>
          <a:stretch/>
        </p:blipFill>
        <p:spPr>
          <a:xfrm>
            <a:off x="11430000" y="2000707"/>
            <a:ext cx="6001207" cy="556138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202107" y="2929738"/>
            <a:ext cx="245699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50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Sebrae/PB 2026</a:t>
            </a:r>
            <a:endParaRPr lang="en-US" sz="1350" dirty="0"/>
          </a:p>
        </p:txBody>
      </p:sp>
      <p:sp>
        <p:nvSpPr>
          <p:cNvPr id="5" name="Text 1"/>
          <p:cNvSpPr txBox="1"/>
          <p:nvPr/>
        </p:nvSpPr>
        <p:spPr>
          <a:xfrm>
            <a:off x="12566599" y="3225089"/>
            <a:ext cx="37344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Índice NPS Alvo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11811305" y="4186428"/>
            <a:ext cx="5238598" cy="1086307"/>
          </a:xfrm>
          <a:prstGeom prst="roundRect">
            <a:avLst>
              <a:gd name="adj" fmla="val 10522"/>
            </a:avLst>
          </a:prstGeom>
          <a:solidFill>
            <a:srgbClr val="FFFFFF">
              <a:alpha val="10000"/>
            </a:srgbClr>
          </a:solidFill>
          <a:ln w="381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 txBox="1"/>
          <p:nvPr/>
        </p:nvSpPr>
        <p:spPr>
          <a:xfrm>
            <a:off x="11811305" y="4186428"/>
            <a:ext cx="5239512" cy="10863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92100" tIns="139700" rIns="292100" bIns="13970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91,5</a:t>
            </a:r>
            <a:endParaRPr lang="en-US" sz="5000" dirty="0"/>
          </a:p>
        </p:txBody>
      </p:sp>
      <p:sp>
        <p:nvSpPr>
          <p:cNvPr id="8" name="Text 4"/>
          <p:cNvSpPr txBox="1"/>
          <p:nvPr/>
        </p:nvSpPr>
        <p:spPr>
          <a:xfrm>
            <a:off x="12525451" y="5886907"/>
            <a:ext cx="3810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* Valor parametrizado conforme acordado no planejamento estratégico anual.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57707" y="1790395"/>
            <a:ext cx="165735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857707" y="714146"/>
            <a:ext cx="62682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Mobilizadora 01 / 06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57707" y="981151"/>
            <a:ext cx="7515454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NPS (Net Promoter Score)</a:t>
            </a:r>
            <a:endParaRPr lang="en-US" sz="4050" dirty="0"/>
          </a:p>
        </p:txBody>
      </p:sp>
      <p:sp>
        <p:nvSpPr>
          <p:cNvPr id="12" name="Text 8"/>
          <p:cNvSpPr txBox="1"/>
          <p:nvPr/>
        </p:nvSpPr>
        <p:spPr>
          <a:xfrm>
            <a:off x="16353130" y="1371600"/>
            <a:ext cx="1183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Sebrae/PB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238098" y="2516684"/>
            <a:ext cx="95253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 que queremos </a:t>
            </a:r>
            <a:r>
              <a:rPr lang="en-US" sz="2400" b="1" dirty="0" err="1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medir</a:t>
            </a:r>
            <a:r>
              <a:rPr lang="en-US" sz="24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?</a:t>
            </a:r>
          </a:p>
          <a:p>
            <a:pPr marL="0" indent="0" algn="l">
              <a:lnSpc>
                <a:spcPts val="2475"/>
              </a:lnSpc>
              <a:buNone/>
            </a:pPr>
            <a:r>
              <a:rPr lang="pt-BR" sz="24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Grau de recomendação do Sebrae pelo cliente</a:t>
            </a:r>
          </a:p>
        </p:txBody>
      </p:sp>
      <p:sp>
        <p:nvSpPr>
          <p:cNvPr id="14" name="Text 10"/>
          <p:cNvSpPr txBox="1"/>
          <p:nvPr/>
        </p:nvSpPr>
        <p:spPr>
          <a:xfrm>
            <a:off x="1238098" y="3595985"/>
            <a:ext cx="9525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Como é </a:t>
            </a:r>
            <a:r>
              <a:rPr lang="en-US" sz="2400" b="1" dirty="0" err="1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coletado</a:t>
            </a:r>
            <a:r>
              <a:rPr lang="en-US" sz="24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?</a:t>
            </a:r>
          </a:p>
          <a:p>
            <a:pPr marL="0" indent="0" algn="l">
              <a:lnSpc>
                <a:spcPts val="2475"/>
              </a:lnSpc>
              <a:buNone/>
            </a:pPr>
            <a:r>
              <a:rPr lang="pt-BR" sz="24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Pesquisa realizada de forma online, com envio de convite ao cliente por </a:t>
            </a:r>
            <a:r>
              <a:rPr lang="pt-BR" sz="240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WhatsApp 60 </a:t>
            </a:r>
            <a:r>
              <a:rPr lang="pt-BR" sz="24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dia após o registro do atendimento, tendo sido ampliada, a partir de 2024, para envios também via WhatsApp.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1237183" y="6315761"/>
            <a:ext cx="95253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Como é </a:t>
            </a:r>
            <a:r>
              <a:rPr lang="en-US" sz="2400" b="1" dirty="0" err="1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calculado</a:t>
            </a:r>
            <a:r>
              <a:rPr lang="en-US" sz="24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?</a:t>
            </a:r>
          </a:p>
          <a:p>
            <a:pPr marL="0" indent="0" algn="l">
              <a:lnSpc>
                <a:spcPts val="2475"/>
              </a:lnSpc>
              <a:buNone/>
            </a:pPr>
            <a:r>
              <a:rPr lang="en-US" sz="24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% Clientes Promotores (notas 9-10) − % Clientes Detratores (notas 0-6)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857707" y="9577426"/>
            <a:ext cx="31629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Monitoramento da Estratégia • Sebrae/PB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16324783" y="9506102"/>
            <a:ext cx="1114654" cy="304495"/>
          </a:xfrm>
          <a:prstGeom prst="roundRect">
            <a:avLst>
              <a:gd name="adj" fmla="val 5015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16324783" y="9506102"/>
            <a:ext cx="111465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8 / 18</a:t>
            </a:r>
            <a:endParaRPr lang="en-US" sz="1200" dirty="0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58688834-C636-4ADC-C295-BFE0F53FBCF3}"/>
              </a:ext>
            </a:extLst>
          </p:cNvPr>
          <p:cNvSpPr/>
          <p:nvPr/>
        </p:nvSpPr>
        <p:spPr>
          <a:xfrm>
            <a:off x="1238098" y="7427416"/>
            <a:ext cx="9525305" cy="685800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3675F044-9E67-D2AE-202C-79B89F4426C8}"/>
              </a:ext>
            </a:extLst>
          </p:cNvPr>
          <p:cNvSpPr/>
          <p:nvPr/>
        </p:nvSpPr>
        <p:spPr>
          <a:xfrm>
            <a:off x="1238098" y="7427416"/>
            <a:ext cx="47549" cy="685800"/>
          </a:xfrm>
          <a:prstGeom prst="roundRect">
            <a:avLst>
              <a:gd name="adj" fmla="val 240384"/>
            </a:avLst>
          </a:prstGeom>
          <a:solidFill>
            <a:srgbClr val="E53E3E"/>
          </a:solidFill>
          <a:ln w="12700">
            <a:solidFill>
              <a:srgbClr val="E53E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AC7714C0-0BB9-50BA-CA63-7E4ABEB2A72C}"/>
              </a:ext>
            </a:extLst>
          </p:cNvPr>
          <p:cNvSpPr txBox="1"/>
          <p:nvPr/>
        </p:nvSpPr>
        <p:spPr>
          <a:xfrm>
            <a:off x="1238098" y="7427416"/>
            <a:ext cx="9525305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41300" tIns="139700" rIns="241300" bIns="13970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⚠️ </a:t>
            </a:r>
            <a:r>
              <a:rPr lang="en-US" sz="1600" b="1" dirty="0" err="1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Observação</a:t>
            </a:r>
            <a:r>
              <a:rPr lang="en-US" sz="1600" b="1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:</a:t>
            </a:r>
            <a:r>
              <a:rPr lang="en-US" sz="1600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pt-BR" sz="1600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Não são pesquisados clientes cujo atendimento é realizado pelos canais </a:t>
            </a:r>
            <a:r>
              <a:rPr lang="pt-BR" sz="1600" dirty="0" err="1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email</a:t>
            </a:r>
            <a:r>
              <a:rPr lang="pt-BR" sz="1600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e redes sociais.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1b3b1ad6bf4551f97ce52ba638cd754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857707" y="2000707"/>
            <a:ext cx="10287000" cy="4762195"/>
          </a:xfrm>
          <a:prstGeom prst="rect">
            <a:avLst/>
          </a:prstGeom>
        </p:spPr>
      </p:pic>
      <p:pic>
        <p:nvPicPr>
          <p:cNvPr id="3" name="Image 1" descr="gen-dedup-b2763c3b3932918a9ed90c71a7c93b3b.png"/>
          <p:cNvPicPr>
            <a:picLocks noChangeAspect="1"/>
          </p:cNvPicPr>
          <p:nvPr/>
        </p:nvPicPr>
        <p:blipFill>
          <a:blip r:embed="rId4"/>
          <a:srcRect l="-7" r="-7"/>
          <a:stretch/>
        </p:blipFill>
        <p:spPr>
          <a:xfrm>
            <a:off x="11430000" y="2000707"/>
            <a:ext cx="6001207" cy="476219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202107" y="3115361"/>
            <a:ext cx="245699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50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Sebrae/PB 2026</a:t>
            </a:r>
            <a:endParaRPr lang="en-US" sz="1350" dirty="0"/>
          </a:p>
        </p:txBody>
      </p:sp>
      <p:sp>
        <p:nvSpPr>
          <p:cNvPr id="5" name="Text 1"/>
          <p:cNvSpPr txBox="1"/>
          <p:nvPr/>
        </p:nvSpPr>
        <p:spPr>
          <a:xfrm>
            <a:off x="11622938" y="3410712"/>
            <a:ext cx="562356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Percentual de Cobertura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12174322" y="4115714"/>
            <a:ext cx="4515307" cy="714146"/>
          </a:xfrm>
          <a:prstGeom prst="roundRect">
            <a:avLst>
              <a:gd name="adj" fmla="val 16005"/>
            </a:avLst>
          </a:prstGeom>
          <a:solidFill>
            <a:srgbClr val="FFFFFF">
              <a:alpha val="10000"/>
            </a:srgbClr>
          </a:solidFill>
          <a:ln w="381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 txBox="1"/>
          <p:nvPr/>
        </p:nvSpPr>
        <p:spPr>
          <a:xfrm>
            <a:off x="12174322" y="4115714"/>
            <a:ext cx="4515307" cy="7150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92100" tIns="139700" rIns="292100" bIns="1397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[ PREENCHER % OFICIAL ]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12525451" y="5068519"/>
            <a:ext cx="3810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* Indicador estratégico nacional com pactuação local junto ao Conselho Deliberativo Estadual.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57707" y="1790395"/>
            <a:ext cx="165735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857707" y="714146"/>
            <a:ext cx="138787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Mobilizadora 02 / 06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57707" y="981151"/>
            <a:ext cx="16044977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ME + EPP (Microempresas e Empresas de Pequeno Porte)</a:t>
            </a:r>
            <a:endParaRPr lang="en-US" sz="4050" dirty="0"/>
          </a:p>
        </p:txBody>
      </p:sp>
      <p:sp>
        <p:nvSpPr>
          <p:cNvPr id="12" name="Text 8"/>
          <p:cNvSpPr txBox="1"/>
          <p:nvPr/>
        </p:nvSpPr>
        <p:spPr>
          <a:xfrm>
            <a:off x="16353130" y="1371600"/>
            <a:ext cx="1183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Sebrae/PB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238098" y="2333549"/>
            <a:ext cx="9525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 que queremos medir?</a:t>
            </a: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 penetração e o alcance do Sebrae junto ao universo de Microempresas (ME) e Empresas de Pequeno Porte (EPP) do estado.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1238098" y="3504895"/>
            <a:ext cx="9525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Quem entra na conta?</a:t>
            </a: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 e EPP sediadas no estado da Paraíba que foram atendidas por qualquer canal e unidade do Sistema Sebrae.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1238098" y="4677156"/>
            <a:ext cx="95253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Como é calculado?</a:t>
            </a:r>
            <a:r>
              <a:rPr lang="en-US" sz="18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Total de ME e EPP Atendidas (CNPJ Único) ÷ Universo Total de ME/EPP do Estado</a:t>
            </a:r>
            <a:endParaRPr lang="en-US" sz="1650" dirty="0"/>
          </a:p>
        </p:txBody>
      </p:sp>
      <p:sp>
        <p:nvSpPr>
          <p:cNvPr id="16" name="Text 12"/>
          <p:cNvSpPr txBox="1"/>
          <p:nvPr/>
        </p:nvSpPr>
        <p:spPr>
          <a:xfrm>
            <a:off x="1238098" y="5562295"/>
            <a:ext cx="9525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Desdobramento para as Regionais</a:t>
            </a: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Distribuição de metas operacionais proporcional ao universo empresarial (densidade de empresas) de cada um dos territórios.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857707" y="7000646"/>
            <a:ext cx="16573500" cy="685800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857707" y="7000646"/>
            <a:ext cx="47549" cy="685800"/>
          </a:xfrm>
          <a:prstGeom prst="roundRect">
            <a:avLst>
              <a:gd name="adj" fmla="val 240384"/>
            </a:avLst>
          </a:prstGeom>
          <a:solidFill>
            <a:srgbClr val="E53E3E"/>
          </a:solidFill>
          <a:ln w="12700">
            <a:solidFill>
              <a:srgbClr val="E53E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 txBox="1"/>
          <p:nvPr/>
        </p:nvSpPr>
        <p:spPr>
          <a:xfrm>
            <a:off x="857707" y="7000646"/>
            <a:ext cx="16573500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41300" tIns="139700" rIns="241300" bIns="13970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⚠️ Atenção (Erro Comum):</a:t>
            </a:r>
            <a:r>
              <a:rPr lang="en-US" sz="1350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Contar o volume absoluto de atendimentos (interações) em vez de clientes individuais (CNPJs únicos). Se uma mesma ME/EPP realiza 10 consultorias, ela conta apenas uma vez para o alcance da meta de cobertura.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857707" y="9577426"/>
            <a:ext cx="31629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Monitoramento da Estratégia • Sebrae/PB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16325698" y="9506102"/>
            <a:ext cx="1114654" cy="304495"/>
          </a:xfrm>
          <a:prstGeom prst="roundRect">
            <a:avLst>
              <a:gd name="adj" fmla="val 5015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16325698" y="9506102"/>
            <a:ext cx="111465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9 / 18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1b3b1ad6bf4551f97ce52ba638cd754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857707" y="2000707"/>
            <a:ext cx="10287000" cy="4762195"/>
          </a:xfrm>
          <a:prstGeom prst="rect">
            <a:avLst/>
          </a:prstGeom>
        </p:spPr>
      </p:pic>
      <p:pic>
        <p:nvPicPr>
          <p:cNvPr id="3" name="Image 1" descr="gen-dedup-b2763c3b3932918a9ed90c71a7c93b3b.png"/>
          <p:cNvPicPr>
            <a:picLocks noChangeAspect="1"/>
          </p:cNvPicPr>
          <p:nvPr/>
        </p:nvPicPr>
        <p:blipFill>
          <a:blip r:embed="rId4"/>
          <a:srcRect l="-7" r="-7"/>
          <a:stretch/>
        </p:blipFill>
        <p:spPr>
          <a:xfrm>
            <a:off x="11430000" y="2000707"/>
            <a:ext cx="6001207" cy="476219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202107" y="2882189"/>
            <a:ext cx="245699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50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Sebrae/PB 2026</a:t>
            </a:r>
            <a:endParaRPr lang="en-US" sz="1350" dirty="0"/>
          </a:p>
        </p:txBody>
      </p:sp>
      <p:sp>
        <p:nvSpPr>
          <p:cNvPr id="5" name="Text 1"/>
          <p:cNvSpPr txBox="1"/>
          <p:nvPr/>
        </p:nvSpPr>
        <p:spPr>
          <a:xfrm>
            <a:off x="11811305" y="3177540"/>
            <a:ext cx="5239512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Percentual de Cobertura MEI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12174322" y="4348886"/>
            <a:ext cx="4515307" cy="714146"/>
          </a:xfrm>
          <a:prstGeom prst="roundRect">
            <a:avLst>
              <a:gd name="adj" fmla="val 16005"/>
            </a:avLst>
          </a:prstGeom>
          <a:solidFill>
            <a:srgbClr val="FFFFFF">
              <a:alpha val="10000"/>
            </a:srgbClr>
          </a:solidFill>
          <a:ln w="381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 txBox="1"/>
          <p:nvPr/>
        </p:nvSpPr>
        <p:spPr>
          <a:xfrm>
            <a:off x="12174322" y="4348886"/>
            <a:ext cx="4515307" cy="7150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92100" tIns="139700" rIns="292100" bIns="1397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[ PREENCHER % OFICIAL ]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12525451" y="5301691"/>
            <a:ext cx="3810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* Meta de extrema relevância para a inclusão social e formalização de novos negócios.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57707" y="1790395"/>
            <a:ext cx="165735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857707" y="714146"/>
            <a:ext cx="89821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Mobilizadora 03 / 06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57707" y="981151"/>
            <a:ext cx="10562234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MEI (Microempreendedor Individual)</a:t>
            </a:r>
            <a:endParaRPr lang="en-US" sz="4050" dirty="0"/>
          </a:p>
        </p:txBody>
      </p:sp>
      <p:sp>
        <p:nvSpPr>
          <p:cNvPr id="12" name="Text 8"/>
          <p:cNvSpPr txBox="1"/>
          <p:nvPr/>
        </p:nvSpPr>
        <p:spPr>
          <a:xfrm>
            <a:off x="16353130" y="1371600"/>
            <a:ext cx="1183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Sebrae/PB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238098" y="2333549"/>
            <a:ext cx="9525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 que queremos medir?</a:t>
            </a: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 cobertura e o alcance do Sebrae junto aos Microempreendedores Individuais (MEI) da Paraíba.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1238098" y="3504895"/>
            <a:ext cx="95253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Quem entra na conta?</a:t>
            </a: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MEIs ativos no estado da Paraíba que foram atendidos por qualquer canal do Sistema Sebrae.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1238098" y="4362602"/>
            <a:ext cx="95253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Como é calculado?</a:t>
            </a:r>
            <a:r>
              <a:rPr lang="en-US" sz="18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MEIs Atendidos (CNPJ Único) ÷ Total de MEIs Ativos no Estado</a:t>
            </a:r>
            <a:endParaRPr lang="en-US" sz="1650" dirty="0"/>
          </a:p>
        </p:txBody>
      </p:sp>
      <p:sp>
        <p:nvSpPr>
          <p:cNvPr id="16" name="Text 12"/>
          <p:cNvSpPr txBox="1"/>
          <p:nvPr/>
        </p:nvSpPr>
        <p:spPr>
          <a:xfrm>
            <a:off x="1238098" y="5248656"/>
            <a:ext cx="9525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Desdobramento para as Regionais</a:t>
            </a: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Proporcional ao número total de MEIs ativos registrados em cada município pertencente ao território da regional.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857707" y="7000646"/>
            <a:ext cx="16573500" cy="685800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857707" y="7000646"/>
            <a:ext cx="47549" cy="685800"/>
          </a:xfrm>
          <a:prstGeom prst="roundRect">
            <a:avLst>
              <a:gd name="adj" fmla="val 240384"/>
            </a:avLst>
          </a:prstGeom>
          <a:solidFill>
            <a:srgbClr val="E53E3E"/>
          </a:solidFill>
          <a:ln w="12700">
            <a:solidFill>
              <a:srgbClr val="E53E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 txBox="1"/>
          <p:nvPr/>
        </p:nvSpPr>
        <p:spPr>
          <a:xfrm>
            <a:off x="857707" y="7000646"/>
            <a:ext cx="16573500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41300" tIns="139700" rIns="241300" bIns="13970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⚠️ Atenção (Erro Comum):</a:t>
            </a:r>
            <a:r>
              <a:rPr lang="en-US" sz="1350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Incluir MEIs de outras Unidades Federativas (UFs) atendidos fisicamente em agências locais da Paraíba. Esse painel valida estritamente a localização jurídica do CNPJ ativo na Paraíba.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857707" y="9577426"/>
            <a:ext cx="31629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Monitoramento da Estratégia • Sebrae/PB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16256203" y="9506102"/>
            <a:ext cx="1181405" cy="304495"/>
          </a:xfrm>
          <a:prstGeom prst="roundRect">
            <a:avLst>
              <a:gd name="adj" fmla="val 5015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16256203" y="9506102"/>
            <a:ext cx="11814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10 / 18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1b3b1ad6bf4551f97ce52ba638cd754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857707" y="2000707"/>
            <a:ext cx="10287000" cy="4762195"/>
          </a:xfrm>
          <a:prstGeom prst="rect">
            <a:avLst/>
          </a:prstGeom>
        </p:spPr>
      </p:pic>
      <p:pic>
        <p:nvPicPr>
          <p:cNvPr id="3" name="Image 1" descr="gen-dedup-b2763c3b3932918a9ed90c71a7c93b3b.png"/>
          <p:cNvPicPr>
            <a:picLocks noChangeAspect="1"/>
          </p:cNvPicPr>
          <p:nvPr/>
        </p:nvPicPr>
        <p:blipFill>
          <a:blip r:embed="rId4"/>
          <a:srcRect l="-7" r="-7"/>
          <a:stretch/>
        </p:blipFill>
        <p:spPr>
          <a:xfrm>
            <a:off x="11430000" y="2000707"/>
            <a:ext cx="6001207" cy="476219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202107" y="3115361"/>
            <a:ext cx="245699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50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Sebrae/PB 2026</a:t>
            </a:r>
            <a:endParaRPr lang="en-US" sz="1350" dirty="0"/>
          </a:p>
        </p:txBody>
      </p:sp>
      <p:sp>
        <p:nvSpPr>
          <p:cNvPr id="5" name="Text 1"/>
          <p:cNvSpPr txBox="1"/>
          <p:nvPr/>
        </p:nvSpPr>
        <p:spPr>
          <a:xfrm>
            <a:off x="11502238" y="3410712"/>
            <a:ext cx="586039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Pontuação de Engajamento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11888114" y="4115714"/>
            <a:ext cx="5086807" cy="714146"/>
          </a:xfrm>
          <a:prstGeom prst="roundRect">
            <a:avLst>
              <a:gd name="adj" fmla="val 16005"/>
            </a:avLst>
          </a:prstGeom>
          <a:solidFill>
            <a:srgbClr val="FFFFFF">
              <a:alpha val="10000"/>
            </a:srgbClr>
          </a:solidFill>
          <a:ln w="381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 txBox="1"/>
          <p:nvPr/>
        </p:nvSpPr>
        <p:spPr>
          <a:xfrm>
            <a:off x="11888114" y="4115714"/>
            <a:ext cx="5086807" cy="7150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92100" tIns="139700" rIns="292100" bIns="1397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[ PREENCHER META OFICIAL ]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12525451" y="5068519"/>
            <a:ext cx="3810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* Métrica orientada à migração de atendimentos eventuais para trilhas integradas de soluções.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57707" y="1790395"/>
            <a:ext cx="165735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857707" y="714146"/>
            <a:ext cx="32488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Mobilizadora 04 / 06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57707" y="981151"/>
            <a:ext cx="3556102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Engajamento</a:t>
            </a:r>
            <a:endParaRPr lang="en-US" sz="4050" dirty="0"/>
          </a:p>
        </p:txBody>
      </p:sp>
      <p:sp>
        <p:nvSpPr>
          <p:cNvPr id="12" name="Text 8"/>
          <p:cNvSpPr txBox="1"/>
          <p:nvPr/>
        </p:nvSpPr>
        <p:spPr>
          <a:xfrm>
            <a:off x="16353130" y="1371600"/>
            <a:ext cx="1183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Sebrae/PB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238098" y="2333549"/>
            <a:ext cx="9525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 que queremos medir?</a:t>
            </a: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 intensidade e a profundidade do relacionamento dos clientes com o Sebrae (fidelização e jornada de soluções).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1238098" y="3504895"/>
            <a:ext cx="9525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Quem entra na conta?</a:t>
            </a: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Clientes com múltiplas interações qualificadas e complementares no período (ex: realizar curso + consultoria).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1238098" y="4677156"/>
            <a:ext cx="9525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Como é calculado?</a:t>
            </a: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Regra nacional de engajamento baseada em uma pontuação ponderada de acordo com o tipo e complexidade de cada interação realizada.</a:t>
            </a:r>
            <a:endParaRPr lang="en-US" sz="1650" dirty="0"/>
          </a:p>
        </p:txBody>
      </p:sp>
      <p:sp>
        <p:nvSpPr>
          <p:cNvPr id="16" name="Text 12"/>
          <p:cNvSpPr txBox="1"/>
          <p:nvPr/>
        </p:nvSpPr>
        <p:spPr>
          <a:xfrm>
            <a:off x="1238098" y="5848502"/>
            <a:ext cx="9525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Desdobramento para as Regionais</a:t>
            </a: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Acompanhamento sistemático e detalhado por carteira de clientes ativos e metas de retenção atribuídas a cada unidade.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857707" y="7000646"/>
            <a:ext cx="16573500" cy="685800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857707" y="7000646"/>
            <a:ext cx="47549" cy="685800"/>
          </a:xfrm>
          <a:prstGeom prst="roundRect">
            <a:avLst>
              <a:gd name="adj" fmla="val 240384"/>
            </a:avLst>
          </a:prstGeom>
          <a:solidFill>
            <a:srgbClr val="E53E3E"/>
          </a:solidFill>
          <a:ln w="12700">
            <a:solidFill>
              <a:srgbClr val="E53E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 txBox="1"/>
          <p:nvPr/>
        </p:nvSpPr>
        <p:spPr>
          <a:xfrm>
            <a:off x="857707" y="7000646"/>
            <a:ext cx="16573500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41300" tIns="139700" rIns="241300" bIns="13970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⚠️ Atenção (Erro Comum):</a:t>
            </a:r>
            <a:r>
              <a:rPr lang="en-US" sz="1350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Confundir o indicador de engajamento com a quantidade bruta de atendimentos dispersos. O engajamento exige a complementaridade e evolução do mesmo cliente ao longo de múltiplos canais.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857707" y="9577426"/>
            <a:ext cx="31629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Monitoramento da Estratégia • Sebrae/PB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16292779" y="9506102"/>
            <a:ext cx="1143000" cy="304495"/>
          </a:xfrm>
          <a:prstGeom prst="roundRect">
            <a:avLst>
              <a:gd name="adj" fmla="val 5015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16292779" y="9506102"/>
            <a:ext cx="114300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11 / 18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1b3b1ad6bf4551f97ce52ba638cd754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857707" y="2000707"/>
            <a:ext cx="10287000" cy="4762195"/>
          </a:xfrm>
          <a:prstGeom prst="rect">
            <a:avLst/>
          </a:prstGeom>
        </p:spPr>
      </p:pic>
      <p:pic>
        <p:nvPicPr>
          <p:cNvPr id="3" name="Image 1" descr="gen-dedup-b2763c3b3932918a9ed90c71a7c93b3b.png"/>
          <p:cNvPicPr>
            <a:picLocks noChangeAspect="1"/>
          </p:cNvPicPr>
          <p:nvPr/>
        </p:nvPicPr>
        <p:blipFill>
          <a:blip r:embed="rId4"/>
          <a:srcRect l="-7" r="-7"/>
          <a:stretch/>
        </p:blipFill>
        <p:spPr>
          <a:xfrm>
            <a:off x="11430000" y="2000707"/>
            <a:ext cx="6001207" cy="476219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202107" y="2882189"/>
            <a:ext cx="245699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50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Sebrae/PB 2026</a:t>
            </a:r>
            <a:endParaRPr lang="en-US" sz="1350" dirty="0"/>
          </a:p>
        </p:txBody>
      </p:sp>
      <p:sp>
        <p:nvSpPr>
          <p:cNvPr id="5" name="Text 1"/>
          <p:cNvSpPr txBox="1"/>
          <p:nvPr/>
        </p:nvSpPr>
        <p:spPr>
          <a:xfrm>
            <a:off x="11811305" y="3177540"/>
            <a:ext cx="5239512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Cobertura de Sub-representados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12174322" y="4348886"/>
            <a:ext cx="4515307" cy="714146"/>
          </a:xfrm>
          <a:prstGeom prst="roundRect">
            <a:avLst>
              <a:gd name="adj" fmla="val 16005"/>
            </a:avLst>
          </a:prstGeom>
          <a:solidFill>
            <a:srgbClr val="FFFFFF">
              <a:alpha val="10000"/>
            </a:srgbClr>
          </a:solidFill>
          <a:ln w="381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 txBox="1"/>
          <p:nvPr/>
        </p:nvSpPr>
        <p:spPr>
          <a:xfrm>
            <a:off x="12174322" y="4348886"/>
            <a:ext cx="4515307" cy="7150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92100" tIns="139700" rIns="292100" bIns="1397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[ PREENCHER % OFICIAL ]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12525451" y="5301691"/>
            <a:ext cx="3810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* Métrica vital para o cumprimento da função social e do compromisso de diversidade do Sebrae.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57707" y="1790395"/>
            <a:ext cx="165735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857707" y="714146"/>
            <a:ext cx="67062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Mobilizadora 05 / 06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57707" y="981151"/>
            <a:ext cx="7515454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Grupos Sub-representados</a:t>
            </a:r>
            <a:endParaRPr lang="en-US" sz="4050" dirty="0"/>
          </a:p>
        </p:txBody>
      </p:sp>
      <p:sp>
        <p:nvSpPr>
          <p:cNvPr id="12" name="Text 8"/>
          <p:cNvSpPr txBox="1"/>
          <p:nvPr/>
        </p:nvSpPr>
        <p:spPr>
          <a:xfrm>
            <a:off x="16353130" y="1371600"/>
            <a:ext cx="1183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Sebrae/PB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238098" y="2333549"/>
            <a:ext cx="9525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 que queremos medir?</a:t>
            </a: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 alcance e a cobertura de atendimento do Sebrae junto a públicos e grupos prioritários definidos nacionalmente.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1238098" y="3504895"/>
            <a:ext cx="9525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Quem entra na conta?</a:t>
            </a: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Empresas e empreendedores que autodeclaram pertencimento aos grupos mapeados como prioritários ou sub-representados no ato do cadastro.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1238098" y="4677156"/>
            <a:ext cx="9525305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Como é calculado?</a:t>
            </a:r>
            <a:r>
              <a:rPr lang="en-US" sz="18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Clientes Atendidos Pertencentes aos Grupos (CNPJ Único) ÷ Universo Mapeado do Grupo</a:t>
            </a:r>
            <a:endParaRPr lang="en-US" sz="1650" dirty="0"/>
          </a:p>
        </p:txBody>
      </p:sp>
      <p:sp>
        <p:nvSpPr>
          <p:cNvPr id="16" name="Text 12"/>
          <p:cNvSpPr txBox="1"/>
          <p:nvPr/>
        </p:nvSpPr>
        <p:spPr>
          <a:xfrm>
            <a:off x="1238098" y="5905195"/>
            <a:ext cx="9525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Desdobramento para as Regionais</a:t>
            </a: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Distribuição com base nas características geodemográficas e na concentração territorial de cada grupo prioritário no estado.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857707" y="7000646"/>
            <a:ext cx="16573500" cy="685800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857707" y="7000646"/>
            <a:ext cx="47549" cy="685800"/>
          </a:xfrm>
          <a:prstGeom prst="roundRect">
            <a:avLst>
              <a:gd name="adj" fmla="val 240384"/>
            </a:avLst>
          </a:prstGeom>
          <a:solidFill>
            <a:srgbClr val="E53E3E"/>
          </a:solidFill>
          <a:ln w="12700">
            <a:solidFill>
              <a:srgbClr val="E53E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 txBox="1"/>
          <p:nvPr/>
        </p:nvSpPr>
        <p:spPr>
          <a:xfrm>
            <a:off x="857707" y="7000646"/>
            <a:ext cx="16573500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41300" tIns="139700" rIns="241300" bIns="13970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⚠️ Atenção (Erro Comum):</a:t>
            </a:r>
            <a:r>
              <a:rPr lang="en-US" sz="1350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Classificar clientes de forma equivocada sem a devida autodeclaração formal ou sem documentos comprobatórios exigidos nas regras técnicas de cadastramento do indicador.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857707" y="9577426"/>
            <a:ext cx="31629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Monitoramento da Estratégia • Sebrae/PB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16262604" y="9506102"/>
            <a:ext cx="1171346" cy="304495"/>
          </a:xfrm>
          <a:prstGeom prst="roundRect">
            <a:avLst>
              <a:gd name="adj" fmla="val 5015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16262604" y="9506102"/>
            <a:ext cx="117226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12 / 18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1b3b1ad6bf4551f97ce52ba638cd754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857707" y="2000707"/>
            <a:ext cx="10287000" cy="4762195"/>
          </a:xfrm>
          <a:prstGeom prst="rect">
            <a:avLst/>
          </a:prstGeom>
        </p:spPr>
      </p:pic>
      <p:pic>
        <p:nvPicPr>
          <p:cNvPr id="3" name="Image 1" descr="gen-dedup-b2763c3b3932918a9ed90c71a7c93b3b.png"/>
          <p:cNvPicPr>
            <a:picLocks noChangeAspect="1"/>
          </p:cNvPicPr>
          <p:nvPr/>
        </p:nvPicPr>
        <p:blipFill>
          <a:blip r:embed="rId4"/>
          <a:srcRect l="-7" r="-7"/>
          <a:stretch/>
        </p:blipFill>
        <p:spPr>
          <a:xfrm>
            <a:off x="11430000" y="2000707"/>
            <a:ext cx="6001207" cy="476219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202107" y="3115361"/>
            <a:ext cx="245699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50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Sebrae/PB 2026</a:t>
            </a:r>
            <a:endParaRPr lang="en-US" sz="1350" dirty="0"/>
          </a:p>
        </p:txBody>
      </p:sp>
      <p:sp>
        <p:nvSpPr>
          <p:cNvPr id="5" name="Text 1"/>
          <p:cNvSpPr txBox="1"/>
          <p:nvPr/>
        </p:nvSpPr>
        <p:spPr>
          <a:xfrm>
            <a:off x="12801600" y="3410712"/>
            <a:ext cx="326166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Indicador REB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12159691" y="4115714"/>
            <a:ext cx="4543654" cy="714146"/>
          </a:xfrm>
          <a:prstGeom prst="roundRect">
            <a:avLst>
              <a:gd name="adj" fmla="val 16005"/>
            </a:avLst>
          </a:prstGeom>
          <a:solidFill>
            <a:srgbClr val="FFFFFF">
              <a:alpha val="10000"/>
            </a:srgbClr>
          </a:solidFill>
          <a:ln w="381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 txBox="1"/>
          <p:nvPr/>
        </p:nvSpPr>
        <p:spPr>
          <a:xfrm>
            <a:off x="12159691" y="4115714"/>
            <a:ext cx="4543654" cy="7150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92100" tIns="139700" rIns="292100" bIns="1397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[ AGUARDANDO REGRAS ]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12525451" y="5068519"/>
            <a:ext cx="3810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* Indicador pactuado localmente de acordo com o plano operacional das Unidades de Atendimento.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57707" y="1790395"/>
            <a:ext cx="165735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857707" y="714146"/>
            <a:ext cx="38386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Mobilizadora 06 / 06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57707" y="981151"/>
            <a:ext cx="4469587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REB + Convênio</a:t>
            </a:r>
            <a:endParaRPr lang="en-US" sz="4050" dirty="0"/>
          </a:p>
        </p:txBody>
      </p:sp>
      <p:sp>
        <p:nvSpPr>
          <p:cNvPr id="12" name="Text 8"/>
          <p:cNvSpPr txBox="1"/>
          <p:nvPr/>
        </p:nvSpPr>
        <p:spPr>
          <a:xfrm>
            <a:off x="16353130" y="1371600"/>
            <a:ext cx="1183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Sebrae/PB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238098" y="2333549"/>
            <a:ext cx="9525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 que queremos medir?</a:t>
            </a: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Os resultados decorrentes da atuação da Rede Estadual de Atendimento (REB) em parceria com convênios estratégicos vigentes.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1238098" y="3504895"/>
            <a:ext cx="9525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Quem entra na conta?</a:t>
            </a: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Clientes atendidos e registrados via pontos e salas da REB e ações vinculadas formalmente a convênios e parcerias técnicas locais.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1238098" y="4677156"/>
            <a:ext cx="95253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Como é calculado?</a:t>
            </a:r>
            <a:r>
              <a:rPr lang="en-US" sz="18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[ Regra definida pela Diretoria Técnica — Aguardando Parametrização ]</a:t>
            </a:r>
            <a:endParaRPr lang="en-US" sz="1650" dirty="0"/>
          </a:p>
        </p:txBody>
      </p:sp>
      <p:sp>
        <p:nvSpPr>
          <p:cNvPr id="16" name="Text 12"/>
          <p:cNvSpPr txBox="1"/>
          <p:nvPr/>
        </p:nvSpPr>
        <p:spPr>
          <a:xfrm>
            <a:off x="1238098" y="5562295"/>
            <a:ext cx="95253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3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Desdobramento para as Regionais</a:t>
            </a: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Divisão proporcional conforme a capilaridade, participação ativa das salas locais e representatividade das unidades no ecossistema regional.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857707" y="7000646"/>
            <a:ext cx="16573500" cy="485546"/>
          </a:xfrm>
          <a:prstGeom prst="roundRect">
            <a:avLst>
              <a:gd name="adj" fmla="val 23541"/>
            </a:avLst>
          </a:prstGeom>
          <a:solidFill>
            <a:srgbClr val="FF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857707" y="7000646"/>
            <a:ext cx="47549" cy="485546"/>
          </a:xfrm>
          <a:prstGeom prst="roundRect">
            <a:avLst>
              <a:gd name="adj" fmla="val 240384"/>
            </a:avLst>
          </a:prstGeom>
          <a:solidFill>
            <a:srgbClr val="E53E3E"/>
          </a:solidFill>
          <a:ln w="12700">
            <a:solidFill>
              <a:srgbClr val="E53E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 txBox="1"/>
          <p:nvPr/>
        </p:nvSpPr>
        <p:spPr>
          <a:xfrm>
            <a:off x="857707" y="7000646"/>
            <a:ext cx="16573500" cy="4864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41300" tIns="139700" rIns="241300" bIns="13970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⚠️ Atenção (Erro Comum):</a:t>
            </a:r>
            <a:r>
              <a:rPr lang="en-US" sz="1350" dirty="0">
                <a:solidFill>
                  <a:srgbClr val="C5303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Misturar os dados e atendimentos diretos das salas da REB com os atendimentos gerais da equipe interna das agências Sebrae sem a correta codificação de parceiros.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857707" y="9577426"/>
            <a:ext cx="31629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Monitoramento da Estratégia • Sebrae/PB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16259861" y="9506102"/>
            <a:ext cx="1171346" cy="304495"/>
          </a:xfrm>
          <a:prstGeom prst="roundRect">
            <a:avLst>
              <a:gd name="adj" fmla="val 5015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16259861" y="9506102"/>
            <a:ext cx="117226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13 / 18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79be63743f4c9355c6b6c21e4ab166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707" y="6191402"/>
            <a:ext cx="9525305" cy="2286000"/>
          </a:xfrm>
          <a:prstGeom prst="roundRect">
            <a:avLst>
              <a:gd name="adj" fmla="val 66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 txBox="1"/>
          <p:nvPr/>
        </p:nvSpPr>
        <p:spPr>
          <a:xfrm>
            <a:off x="857707" y="1904695"/>
            <a:ext cx="16573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Navegação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57707" y="3047695"/>
            <a:ext cx="14287500" cy="943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750" b="1" kern="0" spc="-150" dirty="0">
                <a:solidFill>
                  <a:srgbClr val="F8F9FA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Agora vamos para o SIME!</a:t>
            </a:r>
            <a:endParaRPr lang="en-US" sz="6750" dirty="0"/>
          </a:p>
        </p:txBody>
      </p:sp>
      <p:sp>
        <p:nvSpPr>
          <p:cNvPr id="6" name="Text 3"/>
          <p:cNvSpPr txBox="1"/>
          <p:nvPr/>
        </p:nvSpPr>
        <p:spPr>
          <a:xfrm>
            <a:off x="857707" y="4371746"/>
            <a:ext cx="1143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“Agora que sabemos exatamente o que os números significam… Vamos encontrá-los e analisá-los ao vivo na plataforma do SIME.”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333195" y="6572707"/>
            <a:ext cx="8572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18805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Início da Demonstração Ao Vivo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1333195" y="7010705"/>
            <a:ext cx="8572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E2E8F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 Abra o seu navegador e acesse a plataforma interna do SIME.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1333195" y="7441387"/>
            <a:ext cx="85725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E2E8F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 Tenha em mãos as dúvidas mais recorrentes de sua agência regional para investigarmos.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11906402" y="5238598"/>
            <a:ext cx="3810305" cy="175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r>
              <a:rPr lang="en-US" sz="1500" b="1" dirty="0">
                <a:solidFill>
                  <a:srgbClr val="E2E8F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Acesso ao Sistema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7707" y="9577426"/>
            <a:ext cx="231983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Capacitação SIME • Sebrae/PB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255289" y="9506102"/>
            <a:ext cx="1181405" cy="304495"/>
          </a:xfrm>
          <a:prstGeom prst="roundRect">
            <a:avLst>
              <a:gd name="adj" fmla="val 5015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6255289" y="9506102"/>
            <a:ext cx="11814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14 / 18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a4dcc8daaab0a89089a84f8ab71cdd2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57707" y="2000707"/>
            <a:ext cx="8096098" cy="5715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00607" y="2676449"/>
            <a:ext cx="74112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Filtros e Visão Geral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1200607" y="3286354"/>
            <a:ext cx="7410298" cy="705002"/>
          </a:xfrm>
          <a:prstGeom prst="roundRect">
            <a:avLst>
              <a:gd name="adj" fmla="val 10765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 txBox="1"/>
          <p:nvPr/>
        </p:nvSpPr>
        <p:spPr>
          <a:xfrm>
            <a:off x="1200607" y="3286354"/>
            <a:ext cx="7411212" cy="7050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r>
              <a:rPr lang="en-US" sz="15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Visão Geral:</a:t>
            </a:r>
            <a:r>
              <a:rPr lang="en-US" sz="15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Total de clientes ➔ Total de atendimentos ➔ Perfil consolidado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200607" y="4105656"/>
            <a:ext cx="7410298" cy="476402"/>
          </a:xfrm>
          <a:prstGeom prst="roundRect">
            <a:avLst>
              <a:gd name="adj" fmla="val 1593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1200607" y="4105656"/>
            <a:ext cx="741121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14300" rIns="177800" bIns="1143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r>
              <a:rPr lang="en-US" sz="15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Filtros Principais:</a:t>
            </a:r>
            <a:r>
              <a:rPr lang="en-US" sz="15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Período referencial ➔ Unidade/Agência ➔ Município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200607" y="4695444"/>
            <a:ext cx="7410298" cy="705002"/>
          </a:xfrm>
          <a:prstGeom prst="roundRect">
            <a:avLst>
              <a:gd name="adj" fmla="val 10765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1200607" y="4695444"/>
            <a:ext cx="7411212" cy="7050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r>
              <a:rPr lang="en-US" sz="15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Filtros Avançados:</a:t>
            </a:r>
            <a:r>
              <a:rPr lang="en-US" sz="15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Porte empresarial ➔ Canal de atendimento ➔ Demais dimensões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200607" y="7029907"/>
            <a:ext cx="74102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1200607" y="7181698"/>
            <a:ext cx="741121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* Utilize a combinação de múltiplos filtros para obter diagnósticos altamente específicos por território.</a:t>
            </a:r>
            <a:endParaRPr lang="en-US" sz="1200" dirty="0"/>
          </a:p>
        </p:txBody>
      </p:sp>
      <p:pic>
        <p:nvPicPr>
          <p:cNvPr id="12" name="Image 1" descr="gen-dedup-c9ab8e415af63c556d927437b20a98d4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9334195" y="2000707"/>
            <a:ext cx="8096098" cy="57150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667951" y="2667305"/>
            <a:ext cx="7429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Perguntas que o painel responde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9667951" y="3276295"/>
            <a:ext cx="14264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9927641" y="3276295"/>
            <a:ext cx="65818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Quantos clientes individuais nós conseguimos atingir no período?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667951" y="3724351"/>
            <a:ext cx="14264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9927641" y="3724351"/>
            <a:ext cx="70207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Qual o volume absoluto de atendimentos prestados por nossa equipe?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9667951" y="4172407"/>
            <a:ext cx="14264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927641" y="4172407"/>
            <a:ext cx="63249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Qual o perfil de porte e localização desses clientes assistidos?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9667951" y="4619549"/>
            <a:ext cx="14264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9927641" y="4619549"/>
            <a:ext cx="67537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Qual agência ou regional realizou a maior parcela desses esforços?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9667951" y="7039051"/>
            <a:ext cx="74295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 txBox="1"/>
          <p:nvPr/>
        </p:nvSpPr>
        <p:spPr>
          <a:xfrm>
            <a:off x="9667951" y="7190842"/>
            <a:ext cx="742950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Este painel serve para justificar o esforço operacional de atendimento da regional.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1200607" y="2305202"/>
            <a:ext cx="1781251" cy="276149"/>
          </a:xfrm>
          <a:prstGeom prst="roundRect">
            <a:avLst>
              <a:gd name="adj" fmla="val 5000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/>
          <p:nvPr/>
        </p:nvSpPr>
        <p:spPr>
          <a:xfrm>
            <a:off x="1200607" y="2305202"/>
            <a:ext cx="178125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Estrutura do Painel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9667951" y="2295144"/>
            <a:ext cx="1952244" cy="2761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3"/>
          <p:cNvSpPr/>
          <p:nvPr/>
        </p:nvSpPr>
        <p:spPr>
          <a:xfrm>
            <a:off x="9667951" y="2295144"/>
            <a:ext cx="1953158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Inteligência de Gestão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57707" y="8001000"/>
            <a:ext cx="16573500" cy="1047902"/>
          </a:xfrm>
          <a:prstGeom prst="roundRect">
            <a:avLst>
              <a:gd name="adj" fmla="val 10908"/>
            </a:avLst>
          </a:prstGeom>
          <a:solidFill>
            <a:srgbClr val="EB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5"/>
          <p:cNvSpPr/>
          <p:nvPr/>
        </p:nvSpPr>
        <p:spPr>
          <a:xfrm>
            <a:off x="857707" y="8001000"/>
            <a:ext cx="57607" cy="1047902"/>
          </a:xfrm>
          <a:prstGeom prst="roundRect">
            <a:avLst>
              <a:gd name="adj" fmla="val 198413"/>
            </a:avLst>
          </a:prstGeom>
          <a:solidFill>
            <a:srgbClr val="0054A6"/>
          </a:solidFill>
          <a:ln w="12700">
            <a:solidFill>
              <a:srgbClr val="0054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6"/>
          <p:cNvSpPr/>
          <p:nvPr/>
        </p:nvSpPr>
        <p:spPr>
          <a:xfrm>
            <a:off x="857707" y="1790395"/>
            <a:ext cx="165735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7"/>
          <p:cNvSpPr txBox="1"/>
          <p:nvPr/>
        </p:nvSpPr>
        <p:spPr>
          <a:xfrm>
            <a:off x="857707" y="714146"/>
            <a:ext cx="109444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Interface &amp; Navegação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857707" y="981151"/>
            <a:ext cx="13230454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Painel de Clientes Atendidos e Atendimentos</a:t>
            </a:r>
            <a:endParaRPr lang="en-US" sz="4050" dirty="0"/>
          </a:p>
        </p:txBody>
      </p:sp>
      <p:sp>
        <p:nvSpPr>
          <p:cNvPr id="33" name="Text 29"/>
          <p:cNvSpPr txBox="1"/>
          <p:nvPr/>
        </p:nvSpPr>
        <p:spPr>
          <a:xfrm>
            <a:off x="16353130" y="1371600"/>
            <a:ext cx="1183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Sebrae/PB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1333195" y="8334756"/>
            <a:ext cx="1562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02D62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Dica: Certifique-se de limpar os filtros antes de iniciar uma nova pesquisa para evitar dados residuais!</a:t>
            </a:r>
            <a:endParaRPr lang="en-US" sz="1650" dirty="0"/>
          </a:p>
        </p:txBody>
      </p:sp>
      <p:sp>
        <p:nvSpPr>
          <p:cNvPr id="35" name="Text 31"/>
          <p:cNvSpPr txBox="1"/>
          <p:nvPr/>
        </p:nvSpPr>
        <p:spPr>
          <a:xfrm>
            <a:off x="857707" y="9577426"/>
            <a:ext cx="31629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Monitoramento da Estratégia • Sebrae/PB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16263518" y="9506102"/>
            <a:ext cx="1171346" cy="304495"/>
          </a:xfrm>
          <a:prstGeom prst="roundRect">
            <a:avLst>
              <a:gd name="adj" fmla="val 5015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3"/>
          <p:cNvSpPr/>
          <p:nvPr/>
        </p:nvSpPr>
        <p:spPr>
          <a:xfrm>
            <a:off x="16263518" y="9506102"/>
            <a:ext cx="117226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15 / 18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f74b482675893fa4f55ea444fce0210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857707" y="2000707"/>
            <a:ext cx="8906256" cy="5715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00607" y="2676449"/>
            <a:ext cx="8220456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Componentes do Acompanhamento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1200607" y="3286354"/>
            <a:ext cx="8220456" cy="514807"/>
          </a:xfrm>
          <a:prstGeom prst="roundRect">
            <a:avLst>
              <a:gd name="adj" fmla="val 18472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 txBox="1"/>
          <p:nvPr/>
        </p:nvSpPr>
        <p:spPr>
          <a:xfrm>
            <a:off x="1200607" y="3286354"/>
            <a:ext cx="8220456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39700" rIns="190500" bIns="1397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r>
              <a:rPr lang="en-US" sz="15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Resultado Sebrae/PB:</a:t>
            </a:r>
            <a:r>
              <a:rPr lang="en-US" sz="15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Desempenho geral consolidado do estado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200607" y="3952951"/>
            <a:ext cx="8220456" cy="514807"/>
          </a:xfrm>
          <a:prstGeom prst="roundRect">
            <a:avLst>
              <a:gd name="adj" fmla="val 18472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1200607" y="3952951"/>
            <a:ext cx="8220456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39700" rIns="190500" bIns="1397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r>
              <a:rPr lang="en-US" sz="15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Meta Pactuada:</a:t>
            </a:r>
            <a:r>
              <a:rPr lang="en-US" sz="15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O valor alvo formalmente acordado para o ano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200607" y="4619549"/>
            <a:ext cx="8220456" cy="514807"/>
          </a:xfrm>
          <a:prstGeom prst="roundRect">
            <a:avLst>
              <a:gd name="adj" fmla="val 18472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1200607" y="4619549"/>
            <a:ext cx="8220456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39700" rIns="190500" bIns="1397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r>
              <a:rPr lang="en-US" sz="15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Percentual de Alcance:</a:t>
            </a:r>
            <a:r>
              <a:rPr lang="en-US" sz="15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O quão próximo estamos de bater a meta de gestão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200607" y="5286146"/>
            <a:ext cx="8220456" cy="743407"/>
          </a:xfrm>
          <a:prstGeom prst="roundRect">
            <a:avLst>
              <a:gd name="adj" fmla="val 12792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1200607" y="5286146"/>
            <a:ext cx="8220456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39700" rIns="190500" bIns="1397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r>
              <a:rPr lang="en-US" sz="15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Resultado por Unidade/Agência:</a:t>
            </a:r>
            <a:r>
              <a:rPr lang="en-US" sz="15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Detalhamento tático para identificar gaps operacionais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200607" y="6838798"/>
            <a:ext cx="82204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1200607" y="6990588"/>
            <a:ext cx="8220456" cy="3822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* Este painel é o principal instrumento de acompanhamento para as reuniões de resultados e tomadas de decisão estratégica das chefias.</a:t>
            </a:r>
            <a:endParaRPr lang="en-US" sz="1200" dirty="0"/>
          </a:p>
        </p:txBody>
      </p:sp>
      <p:pic>
        <p:nvPicPr>
          <p:cNvPr id="14" name="Image 1" descr="gen-dedup-f623ce24050c916da47885db9cab2841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10144354" y="2000707"/>
            <a:ext cx="7286854" cy="5715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168482" y="3479292"/>
            <a:ext cx="5239512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410"/>
              </a:lnSpc>
              <a:buNone/>
            </a:pPr>
            <a:r>
              <a:rPr lang="en-US" sz="315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“Estamos alcançando os resultados estratégicos que pactuamos?”</a:t>
            </a:r>
            <a:endParaRPr lang="en-US" sz="3150" dirty="0"/>
          </a:p>
        </p:txBody>
      </p:sp>
      <p:sp>
        <p:nvSpPr>
          <p:cNvPr id="16" name="Shape 12"/>
          <p:cNvSpPr/>
          <p:nvPr/>
        </p:nvSpPr>
        <p:spPr>
          <a:xfrm>
            <a:off x="11168482" y="5540350"/>
            <a:ext cx="5238598" cy="1266444"/>
          </a:xfrm>
          <a:prstGeom prst="roundRect">
            <a:avLst>
              <a:gd name="adj" fmla="val 902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 txBox="1"/>
          <p:nvPr/>
        </p:nvSpPr>
        <p:spPr>
          <a:xfrm>
            <a:off x="11168482" y="5540350"/>
            <a:ext cx="5239512" cy="12673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41300" tIns="241300" rIns="241300" bIns="24130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E2E8F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Foco em Solução:</a:t>
            </a:r>
            <a:r>
              <a:rPr lang="en-US" sz="1350" dirty="0">
                <a:solidFill>
                  <a:srgbClr val="E2E8F0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Caso o percentual de alcance de uma regional esteja abaixo do planejado para o período, o painel auxilia a rastrear onde está o gargalo operacional.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1200607" y="2305202"/>
            <a:ext cx="2200046" cy="276149"/>
          </a:xfrm>
          <a:prstGeom prst="roundRect">
            <a:avLst>
              <a:gd name="adj" fmla="val 5000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1200607" y="2305202"/>
            <a:ext cx="22009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Visualização Estratégica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12684557" y="2831897"/>
            <a:ext cx="2210105" cy="342900"/>
          </a:xfrm>
          <a:prstGeom prst="roundRect">
            <a:avLst>
              <a:gd name="adj" fmla="val 501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12684557" y="2831897"/>
            <a:ext cx="2210105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ctr">
              <a:buNone/>
            </a:pPr>
            <a:r>
              <a:rPr lang="en-US" sz="1200" b="1" kern="0" spc="75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Pergunta de Gestão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57707" y="8001000"/>
            <a:ext cx="16573500" cy="1047902"/>
          </a:xfrm>
          <a:prstGeom prst="roundRect">
            <a:avLst>
              <a:gd name="adj" fmla="val 10908"/>
            </a:avLst>
          </a:prstGeom>
          <a:solidFill>
            <a:srgbClr val="FFF4E6"/>
          </a:solidFill>
          <a:ln w="12700">
            <a:solidFill>
              <a:srgbClr val="FFE0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9"/>
          <p:cNvSpPr/>
          <p:nvPr/>
        </p:nvSpPr>
        <p:spPr>
          <a:xfrm>
            <a:off x="857707" y="1790395"/>
            <a:ext cx="165735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0"/>
          <p:cNvSpPr txBox="1"/>
          <p:nvPr/>
        </p:nvSpPr>
        <p:spPr>
          <a:xfrm>
            <a:off x="857707" y="714146"/>
            <a:ext cx="7429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Acompanhamento e Análise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857707" y="981151"/>
            <a:ext cx="9038844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Painel de Metas Mobilizadoras</a:t>
            </a:r>
            <a:endParaRPr lang="en-US" sz="4050" dirty="0"/>
          </a:p>
        </p:txBody>
      </p:sp>
      <p:sp>
        <p:nvSpPr>
          <p:cNvPr id="26" name="Text 22"/>
          <p:cNvSpPr txBox="1"/>
          <p:nvPr/>
        </p:nvSpPr>
        <p:spPr>
          <a:xfrm>
            <a:off x="16353130" y="1371600"/>
            <a:ext cx="1183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Sebrae/PB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1333195" y="8334756"/>
            <a:ext cx="1562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B45309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Lembre-se: As Metas Mobilizadoras são calculadas com regras territoriais e não puramente operacionais!</a:t>
            </a:r>
            <a:endParaRPr lang="en-US" sz="1650" dirty="0"/>
          </a:p>
        </p:txBody>
      </p:sp>
      <p:sp>
        <p:nvSpPr>
          <p:cNvPr id="28" name="Text 24"/>
          <p:cNvSpPr txBox="1"/>
          <p:nvPr/>
        </p:nvSpPr>
        <p:spPr>
          <a:xfrm>
            <a:off x="857707" y="9577426"/>
            <a:ext cx="31629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Monitoramento da Estratégia • Sebrae/PB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16259861" y="9506102"/>
            <a:ext cx="1171346" cy="304495"/>
          </a:xfrm>
          <a:prstGeom prst="roundRect">
            <a:avLst>
              <a:gd name="adj" fmla="val 5015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6"/>
          <p:cNvSpPr/>
          <p:nvPr/>
        </p:nvSpPr>
        <p:spPr>
          <a:xfrm>
            <a:off x="16259861" y="9506102"/>
            <a:ext cx="117226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16 / 18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0e7e770c0e674434219bbcdca9d8009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857707" y="2000707"/>
            <a:ext cx="8096098" cy="476219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00607" y="2676449"/>
            <a:ext cx="74112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Apresentação para a DIREX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1200607" y="3238805"/>
            <a:ext cx="7411212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Você foi convidado para apresentar, em uma reunião de Diretoria Executiva (**DIREX**), a situação atualizada de resultados operacionais e estratégicos da sua Agência/Unidade Regional.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1200607" y="4387291"/>
            <a:ext cx="7411212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Utilizando o **SIME**, você deve analisar friamente os resultados atuais, mapear os pontos críticos e estruturar um plano de ação robusto e defensável para alcançar as metas estipuladas.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200607" y="6077102"/>
            <a:ext cx="74102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1200607" y="6228893"/>
            <a:ext cx="741121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⏳ Tempo estimado para a atividade: 40 a 50 minutos.</a:t>
            </a:r>
            <a:endParaRPr lang="en-US" sz="1200" dirty="0"/>
          </a:p>
        </p:txBody>
      </p:sp>
      <p:pic>
        <p:nvPicPr>
          <p:cNvPr id="8" name="Image 1" descr="gen-dedup-1c1bb11c364e3f733c1ee0c05c20b5fb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9334195" y="2000707"/>
            <a:ext cx="8096098" cy="4762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67951" y="2667305"/>
            <a:ext cx="7429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O que cada grupo deve fazer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9667951" y="3228746"/>
            <a:ext cx="16276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✔</a:t>
            </a:r>
            <a:endParaRPr lang="en-US" sz="1425" dirty="0"/>
          </a:p>
        </p:txBody>
      </p:sp>
      <p:sp>
        <p:nvSpPr>
          <p:cNvPr id="11" name="Text 7"/>
          <p:cNvSpPr txBox="1"/>
          <p:nvPr/>
        </p:nvSpPr>
        <p:spPr>
          <a:xfrm>
            <a:off x="9934956" y="3228746"/>
            <a:ext cx="77157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Acessar o **SIME** e aplicar o filtro exclusivo da sua Agência/Unidade Regional.</a:t>
            </a:r>
            <a:endParaRPr lang="en-US" sz="1425" dirty="0"/>
          </a:p>
        </p:txBody>
      </p:sp>
      <p:sp>
        <p:nvSpPr>
          <p:cNvPr id="12" name="Text 8"/>
          <p:cNvSpPr txBox="1"/>
          <p:nvPr/>
        </p:nvSpPr>
        <p:spPr>
          <a:xfrm>
            <a:off x="9667951" y="3577133"/>
            <a:ext cx="16276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✔</a:t>
            </a:r>
            <a:endParaRPr lang="en-US" sz="1425" dirty="0"/>
          </a:p>
        </p:txBody>
      </p:sp>
      <p:sp>
        <p:nvSpPr>
          <p:cNvPr id="13" name="Text 9"/>
          <p:cNvSpPr txBox="1"/>
          <p:nvPr/>
        </p:nvSpPr>
        <p:spPr>
          <a:xfrm>
            <a:off x="9934956" y="3577133"/>
            <a:ext cx="7420356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Identificar o percentual de alcance real de cada uma das Metas Mobilizadoras.</a:t>
            </a:r>
            <a:endParaRPr lang="en-US" sz="1425" dirty="0"/>
          </a:p>
        </p:txBody>
      </p:sp>
      <p:sp>
        <p:nvSpPr>
          <p:cNvPr id="14" name="Text 10"/>
          <p:cNvSpPr txBox="1"/>
          <p:nvPr/>
        </p:nvSpPr>
        <p:spPr>
          <a:xfrm>
            <a:off x="9667951" y="3926434"/>
            <a:ext cx="16276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✔</a:t>
            </a:r>
            <a:endParaRPr lang="en-US" sz="1425" dirty="0"/>
          </a:p>
        </p:txBody>
      </p:sp>
      <p:sp>
        <p:nvSpPr>
          <p:cNvPr id="15" name="Text 11"/>
          <p:cNvSpPr txBox="1"/>
          <p:nvPr/>
        </p:nvSpPr>
        <p:spPr>
          <a:xfrm>
            <a:off x="9934956" y="3926434"/>
            <a:ext cx="7163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Classificar as metas em: **dentro/acima do esperado**, em **atenção**, ou com **maior gap**.</a:t>
            </a:r>
            <a:endParaRPr lang="en-US" sz="1425" dirty="0"/>
          </a:p>
        </p:txBody>
      </p:sp>
      <p:sp>
        <p:nvSpPr>
          <p:cNvPr id="16" name="Text 12"/>
          <p:cNvSpPr txBox="1"/>
          <p:nvPr/>
        </p:nvSpPr>
        <p:spPr>
          <a:xfrm>
            <a:off x="9667951" y="4528109"/>
            <a:ext cx="16276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✔</a:t>
            </a:r>
            <a:endParaRPr lang="en-US" sz="1425" dirty="0"/>
          </a:p>
        </p:txBody>
      </p:sp>
      <p:sp>
        <p:nvSpPr>
          <p:cNvPr id="17" name="Text 13"/>
          <p:cNvSpPr txBox="1"/>
          <p:nvPr/>
        </p:nvSpPr>
        <p:spPr>
          <a:xfrm>
            <a:off x="9934956" y="4528109"/>
            <a:ext cx="7163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Cruzar com dados de clientes atendidos e atendimentos para buscar explicações técnicas.</a:t>
            </a:r>
            <a:endParaRPr lang="en-US" sz="1425" dirty="0"/>
          </a:p>
        </p:txBody>
      </p:sp>
      <p:sp>
        <p:nvSpPr>
          <p:cNvPr id="18" name="Text 14"/>
          <p:cNvSpPr txBox="1"/>
          <p:nvPr/>
        </p:nvSpPr>
        <p:spPr>
          <a:xfrm>
            <a:off x="9667951" y="5129784"/>
            <a:ext cx="16276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✔</a:t>
            </a:r>
            <a:endParaRPr lang="en-US" sz="1425" dirty="0"/>
          </a:p>
        </p:txBody>
      </p:sp>
      <p:sp>
        <p:nvSpPr>
          <p:cNvPr id="19" name="Text 15"/>
          <p:cNvSpPr txBox="1"/>
          <p:nvPr/>
        </p:nvSpPr>
        <p:spPr>
          <a:xfrm>
            <a:off x="9934956" y="5129784"/>
            <a:ext cx="7668158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Escolher **até 3 prioridades estratégicas** para evitar planos de ação genéricos.</a:t>
            </a:r>
            <a:endParaRPr lang="en-US" sz="1425" dirty="0"/>
          </a:p>
        </p:txBody>
      </p:sp>
      <p:sp>
        <p:nvSpPr>
          <p:cNvPr id="20" name="Text 16"/>
          <p:cNvSpPr txBox="1"/>
          <p:nvPr/>
        </p:nvSpPr>
        <p:spPr>
          <a:xfrm>
            <a:off x="9667951" y="5478170"/>
            <a:ext cx="16276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✔</a:t>
            </a:r>
            <a:endParaRPr lang="en-US" sz="1425" dirty="0"/>
          </a:p>
        </p:txBody>
      </p:sp>
      <p:sp>
        <p:nvSpPr>
          <p:cNvPr id="21" name="Text 17"/>
          <p:cNvSpPr txBox="1"/>
          <p:nvPr/>
        </p:nvSpPr>
        <p:spPr>
          <a:xfrm>
            <a:off x="9934956" y="5478170"/>
            <a:ext cx="72585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Construir ações táticas concretas direcionadas à resolução desses gargalos.</a:t>
            </a:r>
            <a:endParaRPr lang="en-US" sz="1425" dirty="0"/>
          </a:p>
        </p:txBody>
      </p:sp>
      <p:sp>
        <p:nvSpPr>
          <p:cNvPr id="22" name="Shape 18"/>
          <p:cNvSpPr/>
          <p:nvPr/>
        </p:nvSpPr>
        <p:spPr>
          <a:xfrm>
            <a:off x="1200607" y="2305202"/>
            <a:ext cx="1895551" cy="276149"/>
          </a:xfrm>
          <a:prstGeom prst="roundRect">
            <a:avLst>
              <a:gd name="adj" fmla="val 50000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/>
          <p:nvPr/>
        </p:nvSpPr>
        <p:spPr>
          <a:xfrm>
            <a:off x="1200607" y="2305202"/>
            <a:ext cx="189555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1050" b="1" kern="0" spc="75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Situação-Problema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9667951" y="2295144"/>
            <a:ext cx="1848002" cy="27614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/>
          <p:nvPr/>
        </p:nvSpPr>
        <p:spPr>
          <a:xfrm>
            <a:off x="9667951" y="2295144"/>
            <a:ext cx="184800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marL="0" indent="0" algn="ctr">
              <a:buNone/>
            </a:pPr>
            <a:r>
              <a:rPr lang="en-US" sz="1050" b="1" kern="0" spc="75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Plano de Trabalho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57707" y="6953098"/>
            <a:ext cx="16573500" cy="1047902"/>
          </a:xfrm>
          <a:prstGeom prst="roundRect">
            <a:avLst>
              <a:gd name="adj" fmla="val 10908"/>
            </a:avLst>
          </a:prstGeom>
          <a:solidFill>
            <a:srgbClr val="F188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3"/>
          <p:cNvSpPr/>
          <p:nvPr/>
        </p:nvSpPr>
        <p:spPr>
          <a:xfrm>
            <a:off x="857707" y="1790395"/>
            <a:ext cx="165735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4"/>
          <p:cNvSpPr txBox="1"/>
          <p:nvPr/>
        </p:nvSpPr>
        <p:spPr>
          <a:xfrm>
            <a:off x="857707" y="714146"/>
            <a:ext cx="82872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Desafio Prático Coletivo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857707" y="981151"/>
            <a:ext cx="10573207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Exercício final — Da análise à ação</a:t>
            </a:r>
            <a:endParaRPr lang="en-US" sz="4050" dirty="0"/>
          </a:p>
        </p:txBody>
      </p:sp>
      <p:sp>
        <p:nvSpPr>
          <p:cNvPr id="30" name="Text 26"/>
          <p:cNvSpPr txBox="1"/>
          <p:nvPr/>
        </p:nvSpPr>
        <p:spPr>
          <a:xfrm>
            <a:off x="16353130" y="1371600"/>
            <a:ext cx="1183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Sebrae/PB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1333195" y="7286854"/>
            <a:ext cx="15621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50" b="1" kern="0" spc="-37" dirty="0">
                <a:solidFill>
                  <a:srgbClr val="FFFFFF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“Não queremos uma apresentação de números. Queremos uma proposta de gestão.”</a:t>
            </a:r>
            <a:endParaRPr lang="en-US" sz="1950" dirty="0"/>
          </a:p>
        </p:txBody>
      </p:sp>
      <p:sp>
        <p:nvSpPr>
          <p:cNvPr id="32" name="Text 28"/>
          <p:cNvSpPr txBox="1"/>
          <p:nvPr/>
        </p:nvSpPr>
        <p:spPr>
          <a:xfrm>
            <a:off x="857707" y="8191195"/>
            <a:ext cx="16573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SIME </a:t>
            </a:r>
            <a:r>
              <a:rPr lang="en-US" sz="1800" b="1" dirty="0">
                <a:solidFill>
                  <a:srgbClr val="F18805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➔</a:t>
            </a:r>
            <a:r>
              <a:rPr lang="en-US" sz="18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 Análise </a:t>
            </a:r>
            <a:r>
              <a:rPr lang="en-US" sz="1800" b="1" dirty="0">
                <a:solidFill>
                  <a:srgbClr val="F18805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➔</a:t>
            </a:r>
            <a:r>
              <a:rPr lang="en-US" sz="18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 Decisão </a:t>
            </a:r>
            <a:r>
              <a:rPr lang="en-US" sz="1800" b="1" dirty="0">
                <a:solidFill>
                  <a:srgbClr val="F18805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➔</a:t>
            </a:r>
            <a:r>
              <a:rPr lang="en-US" sz="18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 Ação </a:t>
            </a:r>
            <a:r>
              <a:rPr lang="en-US" sz="1800" b="1" dirty="0">
                <a:solidFill>
                  <a:srgbClr val="F18805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➔</a:t>
            </a:r>
            <a:r>
              <a:rPr lang="en-US" sz="18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 Resultado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857707" y="9577426"/>
            <a:ext cx="31629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Monitoramento da Estratégia • Sebrae/PB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16269919" y="9506102"/>
            <a:ext cx="1162202" cy="304495"/>
          </a:xfrm>
          <a:prstGeom prst="roundRect">
            <a:avLst>
              <a:gd name="adj" fmla="val 5015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1"/>
          <p:cNvSpPr/>
          <p:nvPr/>
        </p:nvSpPr>
        <p:spPr>
          <a:xfrm>
            <a:off x="16269919" y="9506102"/>
            <a:ext cx="11622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17 / 19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707" y="4667098"/>
            <a:ext cx="16573500" cy="809244"/>
          </a:xfrm>
          <a:prstGeom prst="roundRect">
            <a:avLst>
              <a:gd name="adj" fmla="val 14124"/>
            </a:avLst>
          </a:prstGeom>
          <a:solidFill>
            <a:srgbClr val="FFF4E6"/>
          </a:solidFill>
          <a:ln w="12700">
            <a:solidFill>
              <a:srgbClr val="FFE0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57707" y="5715000"/>
            <a:ext cx="16573500" cy="2286000"/>
          </a:xfrm>
          <a:prstGeom prst="roundRect">
            <a:avLst>
              <a:gd name="adj" fmla="val 6680"/>
            </a:avLst>
          </a:prstGeom>
          <a:solidFill>
            <a:srgbClr val="002D6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57707" y="1790395"/>
            <a:ext cx="165735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57707" y="714146"/>
            <a:ext cx="83731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Instrumento de Gestão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57707" y="981151"/>
            <a:ext cx="10257739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Plano de ação — do dado à entrega</a:t>
            </a:r>
            <a:endParaRPr lang="en-US" sz="4050" dirty="0"/>
          </a:p>
        </p:txBody>
      </p:sp>
      <p:sp>
        <p:nvSpPr>
          <p:cNvPr id="7" name="Text 5"/>
          <p:cNvSpPr txBox="1"/>
          <p:nvPr/>
        </p:nvSpPr>
        <p:spPr>
          <a:xfrm>
            <a:off x="16353130" y="1371600"/>
            <a:ext cx="1183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Sebrae/PB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7707" y="1904695"/>
          <a:ext cx="16564357" cy="1886406"/>
        </p:xfrm>
        <a:graphic>
          <a:graphicData uri="http://schemas.openxmlformats.org/drawingml/2006/table">
            <a:tbl>
              <a:tblPr/>
              <a:tblGrid>
                <a:gridCol w="1987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4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18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13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84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94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4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288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  <a:ea typeface="Noto Sans PT" pitchFamily="34" charset="-122"/>
                          <a:cs typeface="Noto Sans PT" pitchFamily="34" charset="-120"/>
                        </a:rPr>
                        <a:t>Meta / Indicador</a:t>
                      </a:r>
                      <a:endParaRPr lang="en-US" sz="1050" dirty="0">
                        <a:latin typeface="Aptos Display" panose="020B0004020202020204" pitchFamily="34" charset="0"/>
                        <a:ea typeface="Noto Sans PT" charset="0"/>
                        <a:cs typeface="Noto Sans PT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  <a:ea typeface="Noto Sans PT" pitchFamily="34" charset="-122"/>
                          <a:cs typeface="Noto Sans PT" pitchFamily="34" charset="-120"/>
                        </a:rPr>
                        <a:t>Result. Atual</a:t>
                      </a:r>
                      <a:endParaRPr lang="en-US" sz="1050" dirty="0">
                        <a:latin typeface="Aptos Display" panose="020B0004020202020204" pitchFamily="34" charset="0"/>
                        <a:ea typeface="Noto Sans PT" charset="0"/>
                        <a:cs typeface="Noto Sans PT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  <a:ea typeface="Noto Sans PT" pitchFamily="34" charset="-122"/>
                          <a:cs typeface="Noto Sans PT" pitchFamily="34" charset="-120"/>
                        </a:rPr>
                        <a:t>Gap</a:t>
                      </a:r>
                      <a:endParaRPr lang="en-US" sz="1050" dirty="0">
                        <a:latin typeface="Aptos Display" panose="020B0004020202020204" pitchFamily="34" charset="0"/>
                        <a:ea typeface="Noto Sans PT" charset="0"/>
                        <a:cs typeface="Noto Sans PT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  <a:ea typeface="Noto Sans PT" pitchFamily="34" charset="-122"/>
                          <a:cs typeface="Noto Sans PT" pitchFamily="34" charset="-120"/>
                        </a:rPr>
                        <a:t>O que os dados mostram?</a:t>
                      </a:r>
                      <a:endParaRPr lang="en-US" sz="1050" dirty="0">
                        <a:latin typeface="Aptos Display" panose="020B0004020202020204" pitchFamily="34" charset="0"/>
                        <a:ea typeface="Noto Sans PT" charset="0"/>
                        <a:cs typeface="Noto Sans PT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  <a:ea typeface="Noto Sans PT" pitchFamily="34" charset="-122"/>
                          <a:cs typeface="Noto Sans PT" pitchFamily="34" charset="-120"/>
                        </a:rPr>
                        <a:t>Ação proposta</a:t>
                      </a:r>
                      <a:endParaRPr lang="en-US" sz="1050" dirty="0">
                        <a:latin typeface="Aptos Display" panose="020B0004020202020204" pitchFamily="34" charset="0"/>
                        <a:ea typeface="Noto Sans PT" charset="0"/>
                        <a:cs typeface="Noto Sans PT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  <a:ea typeface="Noto Sans PT" pitchFamily="34" charset="-122"/>
                          <a:cs typeface="Noto Sans PT" pitchFamily="34" charset="-120"/>
                        </a:rPr>
                        <a:t>Expectativa de Resultado</a:t>
                      </a:r>
                      <a:endParaRPr lang="en-US" sz="1050" dirty="0">
                        <a:latin typeface="Aptos Display" panose="020B0004020202020204" pitchFamily="34" charset="0"/>
                        <a:ea typeface="Noto Sans PT" charset="0"/>
                        <a:cs typeface="Noto Sans PT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  <a:ea typeface="Noto Sans PT" pitchFamily="34" charset="-122"/>
                          <a:cs typeface="Noto Sans PT" pitchFamily="34" charset="-120"/>
                        </a:rPr>
                        <a:t>Prazo</a:t>
                      </a:r>
                      <a:endParaRPr lang="en-US" sz="1050" dirty="0">
                        <a:latin typeface="Aptos Display" panose="020B0004020202020204" pitchFamily="34" charset="0"/>
                        <a:ea typeface="Noto Sans PT" charset="0"/>
                        <a:cs typeface="Noto Sans PT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  <a:ea typeface="Noto Sans PT" pitchFamily="34" charset="-122"/>
                          <a:cs typeface="Noto Sans PT" pitchFamily="34" charset="-120"/>
                        </a:rPr>
                        <a:t>Responsável</a:t>
                      </a:r>
                      <a:endParaRPr lang="en-US" sz="1050" dirty="0">
                        <a:latin typeface="Aptos Display" panose="020B0004020202020204" pitchFamily="34" charset="0"/>
                        <a:ea typeface="Noto Sans PT" charset="0"/>
                        <a:cs typeface="Noto Sans PT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Cobertura MEI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i="1" dirty="0">
                          <a:solidFill>
                            <a:srgbClr val="64748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XX %</a:t>
                      </a:r>
                      <a:endParaRPr lang="en-US" sz="1125" dirty="0">
                        <a:latin typeface="Aptos Display" panose="020B0004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i="1" dirty="0">
                          <a:solidFill>
                            <a:srgbClr val="64748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XX pp</a:t>
                      </a:r>
                      <a:endParaRPr lang="en-US" sz="1125" dirty="0">
                        <a:latin typeface="Aptos Display" panose="020B0004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Baixa cobertura observada em municípios específicos da regional.</a:t>
                      </a:r>
                      <a:endParaRPr lang="en-US" sz="1125" dirty="0">
                        <a:latin typeface="Aptos Display" panose="020B0004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Realizar ação integrada de mobilização itinerante e mutirão de formalização de parceiros.</a:t>
                      </a:r>
                      <a:endParaRPr lang="en-US" sz="1125" dirty="0">
                        <a:latin typeface="Aptos Display" panose="020B0004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Incorporar </a:t>
                      </a:r>
                      <a:r>
                        <a:rPr lang="en-US" sz="1125" b="1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+150 novos MEIs</a:t>
                      </a:r>
                      <a:r>
                        <a:rPr lang="en-US" sz="1125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 à base da meta estadual.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Set/26</a:t>
                      </a:r>
                      <a:endParaRPr lang="en-US" sz="1125" dirty="0">
                        <a:latin typeface="Aptos Display" panose="020B0004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Agência</a:t>
                      </a:r>
                      <a:endParaRPr lang="en-US" sz="1125" dirty="0">
                        <a:latin typeface="Aptos Display" panose="020B0004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Engajamento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i="1" dirty="0">
                          <a:solidFill>
                            <a:srgbClr val="64748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XX pts</a:t>
                      </a:r>
                      <a:endParaRPr lang="en-US" sz="1125" dirty="0">
                        <a:latin typeface="Aptos Display" panose="020B0004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i="1" dirty="0">
                          <a:solidFill>
                            <a:srgbClr val="64748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XX pts</a:t>
                      </a:r>
                      <a:endParaRPr lang="en-US" sz="1125" dirty="0">
                        <a:latin typeface="Aptos Display" panose="020B0004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Alto volume de empresas com atendimento único, mas poucas recorrentes.</a:t>
                      </a:r>
                      <a:endParaRPr lang="en-US" sz="1125" dirty="0">
                        <a:latin typeface="Aptos Display" panose="020B0004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Trabalhar ativação da carteira de empresas com maior potencial de trilhas de consultoria.</a:t>
                      </a:r>
                      <a:endParaRPr lang="en-US" sz="1125" dirty="0">
                        <a:latin typeface="Aptos Display" panose="020B0004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Elevar índice de engajamento da carteira prioritária em </a:t>
                      </a:r>
                      <a:r>
                        <a:rPr lang="en-US" sz="1125" b="1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12%</a:t>
                      </a:r>
                      <a:r>
                        <a:rPr lang="en-US" sz="1125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.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Out/26</a:t>
                      </a:r>
                      <a:endParaRPr lang="en-US" sz="1125" dirty="0">
                        <a:latin typeface="Aptos Display" panose="020B0004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>
                          <a:solidFill>
                            <a:srgbClr val="1E293B"/>
                          </a:solidFill>
                          <a:latin typeface="Aptos Display" panose="020B0004020202020204" pitchFamily="34" charset="0"/>
                          <a:ea typeface="Inter" pitchFamily="34" charset="-122"/>
                          <a:cs typeface="Inter" pitchFamily="34" charset="-120"/>
                        </a:rPr>
                        <a:t>Gestor</a:t>
                      </a:r>
                      <a:endParaRPr lang="en-US" sz="1125" dirty="0">
                        <a:latin typeface="Aptos Display" panose="020B0004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895198" y="4905756"/>
            <a:ext cx="164976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5309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📌 Importante: Cada ação proposta deve estar estritamente conectada ao gap identificado e estimar claramente quanto resultado pretende gerar.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38098" y="6048756"/>
            <a:ext cx="15811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75" dirty="0">
                <a:solidFill>
                  <a:srgbClr val="F18805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Estrutura da Apresentação à DIREX (Apenas 5 minutos por grupo)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1238098" y="6486754"/>
            <a:ext cx="3010205" cy="1228954"/>
          </a:xfrm>
          <a:prstGeom prst="roundRect">
            <a:avLst>
              <a:gd name="adj" fmla="val 617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1238098" y="6486754"/>
            <a:ext cx="3010205" cy="12289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1</a:t>
            </a:r>
            <a:r>
              <a:rPr lang="en-US" sz="1350" b="1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Onde estamos?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Apresentação diagnóstica do estado atual.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438498" y="6486754"/>
            <a:ext cx="3010205" cy="1228954"/>
          </a:xfrm>
          <a:prstGeom prst="roundRect">
            <a:avLst>
              <a:gd name="adj" fmla="val 617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4438498" y="6486754"/>
            <a:ext cx="3010205" cy="12289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2</a:t>
            </a:r>
            <a:r>
              <a:rPr lang="en-US" sz="1350" b="1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Onde chegar?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Pactuações de metas planejadas.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638898" y="6486754"/>
            <a:ext cx="3010205" cy="1228954"/>
          </a:xfrm>
          <a:prstGeom prst="roundRect">
            <a:avLst>
              <a:gd name="adj" fmla="val 617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7638898" y="6486754"/>
            <a:ext cx="3010205" cy="12289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3</a:t>
            </a:r>
            <a:r>
              <a:rPr lang="en-US" sz="1350" b="1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Principal problema?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 maior gap ou ponto crítico mapeado.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10839298" y="6486754"/>
            <a:ext cx="3010205" cy="1228954"/>
          </a:xfrm>
          <a:prstGeom prst="roundRect">
            <a:avLst>
              <a:gd name="adj" fmla="val 617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10839298" y="6486754"/>
            <a:ext cx="3010205" cy="12289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4</a:t>
            </a:r>
            <a:r>
              <a:rPr lang="en-US" sz="1350" b="1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 que faremos?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Ação estratégica e tática proposta.</a:t>
            </a:r>
            <a:endParaRPr lang="en-US" sz="1350" dirty="0"/>
          </a:p>
        </p:txBody>
      </p:sp>
      <p:sp>
        <p:nvSpPr>
          <p:cNvPr id="8" name="Shape 16"/>
          <p:cNvSpPr/>
          <p:nvPr/>
        </p:nvSpPr>
        <p:spPr>
          <a:xfrm>
            <a:off x="14039698" y="6486754"/>
            <a:ext cx="3010205" cy="1228954"/>
          </a:xfrm>
          <a:prstGeom prst="roundRect">
            <a:avLst>
              <a:gd name="adj" fmla="val 617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 txBox="1"/>
          <p:nvPr/>
        </p:nvSpPr>
        <p:spPr>
          <a:xfrm>
            <a:off x="14039698" y="6486754"/>
            <a:ext cx="3010205" cy="12289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5</a:t>
            </a:r>
            <a:r>
              <a:rPr lang="en-US" sz="1350" b="1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Quanto contribui?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Expectativa numérica de entrega.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857707" y="9577426"/>
            <a:ext cx="31629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Monitoramento da Estratégia • Sebrae/PB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6259861" y="9506102"/>
            <a:ext cx="1171346" cy="304495"/>
          </a:xfrm>
          <a:prstGeom prst="roundRect">
            <a:avLst>
              <a:gd name="adj" fmla="val 5015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16259861" y="9506102"/>
            <a:ext cx="117226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18 / 19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ae998f955368cbf76095fab9e296ffc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57707" y="2000707"/>
            <a:ext cx="8143646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00607" y="2762402"/>
            <a:ext cx="7457846" cy="19202"/>
          </a:xfrm>
          <a:prstGeom prst="rect">
            <a:avLst/>
          </a:prstGeom>
          <a:solidFill>
            <a:srgbClr val="EBF3FC"/>
          </a:solidFill>
          <a:ln w="12700">
            <a:solidFill>
              <a:srgbClr val="EBF3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 txBox="1"/>
          <p:nvPr/>
        </p:nvSpPr>
        <p:spPr>
          <a:xfrm>
            <a:off x="1200607" y="2343607"/>
            <a:ext cx="74587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Regras e Conceitos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1200607" y="3047695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endParaRPr lang="en-US" sz="1950" dirty="0"/>
          </a:p>
        </p:txBody>
      </p:sp>
      <p:sp>
        <p:nvSpPr>
          <p:cNvPr id="6" name="Text 3"/>
          <p:cNvSpPr txBox="1"/>
          <p:nvPr/>
        </p:nvSpPr>
        <p:spPr>
          <a:xfrm>
            <a:off x="1564538" y="3066898"/>
            <a:ext cx="70966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Atendimento e cliente atendido</a:t>
            </a:r>
            <a:r>
              <a:rPr lang="en-US" sz="15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são métricas com naturezas de contagem estruturalmente diferentes.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00607" y="3810305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1564538" y="3829507"/>
            <a:ext cx="70966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Cada painel</a:t>
            </a:r>
            <a:r>
              <a:rPr lang="en-US" sz="15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possui uma regra específica de cálculo e serve para responder a uma pergunta de negócio diferente.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00607" y="4572000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endParaRPr lang="en-US" sz="1950" dirty="0"/>
          </a:p>
        </p:txBody>
      </p:sp>
      <p:sp>
        <p:nvSpPr>
          <p:cNvPr id="10" name="Text 7"/>
          <p:cNvSpPr txBox="1"/>
          <p:nvPr/>
        </p:nvSpPr>
        <p:spPr>
          <a:xfrm>
            <a:off x="1564538" y="4591202"/>
            <a:ext cx="70966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As Metas Mobilizadoras</a:t>
            </a:r>
            <a:r>
              <a:rPr lang="en-US" sz="15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traduzem de forma prática a visão estratégica de longo prazo do Sebrae em resultados mensuráveis.</a:t>
            </a:r>
            <a:endParaRPr lang="en-US" sz="1500" dirty="0"/>
          </a:p>
        </p:txBody>
      </p:sp>
      <p:pic>
        <p:nvPicPr>
          <p:cNvPr id="11" name="Image 1" descr="gen-dedup-cae998f955368cbf76095fab9e296ffc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9286646" y="2000707"/>
            <a:ext cx="8143646" cy="4572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629546" y="2762402"/>
            <a:ext cx="7457846" cy="19202"/>
          </a:xfrm>
          <a:prstGeom prst="rect">
            <a:avLst/>
          </a:prstGeom>
          <a:solidFill>
            <a:srgbClr val="EBF3FC"/>
          </a:solidFill>
          <a:ln w="12700">
            <a:solidFill>
              <a:srgbClr val="EBF3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9629546" y="2343607"/>
            <a:ext cx="74587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Gestão Orientada a Dados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9629546" y="3047695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endParaRPr lang="en-US" sz="1950" dirty="0"/>
          </a:p>
        </p:txBody>
      </p:sp>
      <p:sp>
        <p:nvSpPr>
          <p:cNvPr id="15" name="Text 11"/>
          <p:cNvSpPr txBox="1"/>
          <p:nvPr/>
        </p:nvSpPr>
        <p:spPr>
          <a:xfrm>
            <a:off x="9994392" y="3066898"/>
            <a:ext cx="70966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15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SIME não serve apenas para acompanhar números</a:t>
            </a:r>
            <a:r>
              <a:rPr lang="en-US" sz="15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ou preencher relatórios frios de metas.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629546" y="3810305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endParaRPr lang="en-US" sz="1950" dirty="0"/>
          </a:p>
        </p:txBody>
      </p:sp>
      <p:sp>
        <p:nvSpPr>
          <p:cNvPr id="17" name="Text 13"/>
          <p:cNvSpPr txBox="1"/>
          <p:nvPr/>
        </p:nvSpPr>
        <p:spPr>
          <a:xfrm>
            <a:off x="9994392" y="3829507"/>
            <a:ext cx="70966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A plataforma serve fundamentalmente para </a:t>
            </a:r>
            <a:r>
              <a:rPr lang="en-US" sz="1500" b="1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identificar tendências e pontos onde precisamos intervir</a:t>
            </a:r>
            <a:r>
              <a:rPr lang="en-US" sz="15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com plano de ação comercial.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9629546" y="4572000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➔</a:t>
            </a:r>
            <a:endParaRPr lang="en-US" sz="1950" dirty="0"/>
          </a:p>
        </p:txBody>
      </p:sp>
      <p:sp>
        <p:nvSpPr>
          <p:cNvPr id="19" name="Text 15"/>
          <p:cNvSpPr txBox="1"/>
          <p:nvPr/>
        </p:nvSpPr>
        <p:spPr>
          <a:xfrm>
            <a:off x="9994392" y="4591202"/>
            <a:ext cx="70966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Tomadas de decisões táticas baseadas em relatórios do SIME mitigam desperdício de recursos regionais.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857707" y="6858000"/>
            <a:ext cx="16573500" cy="1714500"/>
          </a:xfrm>
          <a:prstGeom prst="roundRect">
            <a:avLst>
              <a:gd name="adj" fmla="val 8907"/>
            </a:avLst>
          </a:prstGeom>
          <a:solidFill>
            <a:srgbClr val="002D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857707" y="6858000"/>
            <a:ext cx="75895" cy="1714500"/>
          </a:xfrm>
          <a:prstGeom prst="roundRect">
            <a:avLst>
              <a:gd name="adj" fmla="val 201205"/>
            </a:avLst>
          </a:prstGeom>
          <a:solidFill>
            <a:srgbClr val="F18805"/>
          </a:solidFill>
          <a:ln w="12700">
            <a:solidFill>
              <a:srgbClr val="F1880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8"/>
          <p:cNvSpPr/>
          <p:nvPr/>
        </p:nvSpPr>
        <p:spPr>
          <a:xfrm>
            <a:off x="857707" y="1790395"/>
            <a:ext cx="165735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 txBox="1"/>
          <p:nvPr/>
        </p:nvSpPr>
        <p:spPr>
          <a:xfrm>
            <a:off x="857707" y="714146"/>
            <a:ext cx="86017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18805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Conclusão e Próximos Passos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57707" y="981151"/>
            <a:ext cx="10257739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002D62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O que quero que vocês levem daqui</a:t>
            </a:r>
            <a:endParaRPr lang="en-US" sz="4050" dirty="0"/>
          </a:p>
        </p:txBody>
      </p:sp>
      <p:sp>
        <p:nvSpPr>
          <p:cNvPr id="25" name="Text 21"/>
          <p:cNvSpPr txBox="1"/>
          <p:nvPr/>
        </p:nvSpPr>
        <p:spPr>
          <a:xfrm>
            <a:off x="16353130" y="1371600"/>
            <a:ext cx="1183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054A6"/>
                </a:solidFill>
                <a:latin typeface="Aptos Display" panose="020B0004020202020204" pitchFamily="34" charset="0"/>
                <a:ea typeface="Noto Sans PT" pitchFamily="34" charset="-122"/>
                <a:cs typeface="Noto Sans PT" pitchFamily="34" charset="-120"/>
              </a:rPr>
              <a:t>Sebrae/PB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429207" y="7144207"/>
            <a:ext cx="154305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7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“O dado mostra onde estamos. A gestão decide para onde vamos.”</a:t>
            </a:r>
            <a:endParaRPr lang="en-US" sz="2700" dirty="0"/>
          </a:p>
        </p:txBody>
      </p:sp>
      <p:sp>
        <p:nvSpPr>
          <p:cNvPr id="27" name="Text 23"/>
          <p:cNvSpPr txBox="1"/>
          <p:nvPr/>
        </p:nvSpPr>
        <p:spPr>
          <a:xfrm>
            <a:off x="857707" y="9577426"/>
            <a:ext cx="31629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Monitoramento da Estratégia • Sebrae/PB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16259861" y="9506102"/>
            <a:ext cx="1171346" cy="304495"/>
          </a:xfrm>
          <a:prstGeom prst="roundRect">
            <a:avLst>
              <a:gd name="adj" fmla="val 50150"/>
            </a:avLst>
          </a:prstGeom>
          <a:solidFill>
            <a:srgbClr val="EBF3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5"/>
          <p:cNvSpPr/>
          <p:nvPr/>
        </p:nvSpPr>
        <p:spPr>
          <a:xfrm>
            <a:off x="16259861" y="9506102"/>
            <a:ext cx="117226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4A6"/>
                </a:solidFill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Slide 19 / 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a 1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2542</Words>
  <Application>Microsoft Office PowerPoint</Application>
  <PresentationFormat>Personalizar</PresentationFormat>
  <Paragraphs>338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Aptos Display</vt:lpstr>
      <vt:lpstr>Arial</vt:lpstr>
      <vt:lpstr>Playfair Display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Thaiguara Martins da Silva Linhares</cp:lastModifiedBy>
  <cp:revision>3</cp:revision>
  <dcterms:created xsi:type="dcterms:W3CDTF">2026-08-12T23:58:09Z</dcterms:created>
  <dcterms:modified xsi:type="dcterms:W3CDTF">2026-08-13T14:10:21Z</dcterms:modified>
</cp:coreProperties>
</file>