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0E2756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57200" cy="50292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9AFF"/>
                </a:solidFill>
                <a:latin typeface="Poppins"/>
              </a:rPr>
              <a:t>Sistema de Monitoramento da Estratégia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oppins"/>
              </a:rPr>
              <a:t>SIME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Entendendo nossos 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7589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4E8"/>
                </a:solidFill>
                <a:latin typeface="Poppins"/>
              </a:rPr>
              <a:t>Capacitação interna Sebrae/PB sobre Painéis de Resultados de Atendimento.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2834640" cy="18288"/>
          </a:xfrm>
          <a:prstGeom prst="rect">
            <a:avLst/>
          </a:prstGeom>
          <a:solidFill>
            <a:srgbClr val="3B4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59AFF"/>
                </a:solidFill>
                <a:latin typeface="Poppins"/>
              </a:rPr>
              <a:t>Objetivo da nossa conversa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38928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3E9F5"/>
                </a:solidFill>
                <a:latin typeface="Poppins"/>
              </a:rPr>
              <a:t>Entender o que cada indicador mede, de onde vêm os números e como interpretar corretamente cada painel de resultados estratégico.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C"/>
                </a:solidFill>
                <a:latin typeface="Poppins"/>
              </a:rPr>
              <a:t>Sebrae Paraíba • Capacitação SIME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CONCEITOS FUNDAMENTAIS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Antes de começar: Atendimento ≠ Cliente Atendido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3602736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QUEM É CONTADO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756"/>
                </a:solidFill>
                <a:latin typeface="Poppins"/>
              </a:rPr>
              <a:t>Cliente atendido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rcRect t="5637" b="5637"/>
          <a:stretch>
            <a:fillRect/>
          </a:stretch>
        </p:blipFill>
        <p:spPr>
          <a:xfrm>
            <a:off x="685800" y="2514600"/>
            <a:ext cx="3145536" cy="237744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685800" y="5029200"/>
            <a:ext cx="3145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0">
                <a:solidFill>
                  <a:srgbClr val="304258"/>
                </a:solidFill>
                <a:latin typeface="Poppins"/>
              </a:rPr>
              <a:t>Pessoa Física ou Pequeno Negócio (CNPJ ou CPF) que recebeu pelo menos um atendimento aceito dentro do período de referência analisado.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1">
                <a:solidFill>
                  <a:srgbClr val="0E2756"/>
                </a:solidFill>
                <a:latin typeface="Poppins"/>
              </a:rPr>
              <a:t>A contagem é por cliente único.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481328"/>
            <a:ext cx="3602736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O QUE É CONTADO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9751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756"/>
                </a:solidFill>
                <a:latin typeface="Poppins"/>
              </a:rPr>
              <a:t>Atendimento</a:t>
            </a:r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3"/>
          <a:srcRect l="10308" r="10308"/>
          <a:stretch>
            <a:fillRect/>
          </a:stretch>
        </p:blipFill>
        <p:spPr>
          <a:xfrm>
            <a:off x="4453128" y="2514600"/>
            <a:ext cx="3145536" cy="2377440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4453128" y="5029200"/>
            <a:ext cx="31455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0">
                <a:solidFill>
                  <a:srgbClr val="304258"/>
                </a:solidFill>
                <a:latin typeface="Poppins"/>
              </a:rPr>
              <a:t>Cada interação realizada com o cliente. Representa o volume total de serviços e soluções prestadas no período.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30" b="1">
                <a:solidFill>
                  <a:srgbClr val="0E2756"/>
                </a:solidFill>
                <a:latin typeface="Poppins"/>
              </a:rPr>
              <a:t>A contagem é por interação.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605332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B4540A"/>
                </a:solidFill>
                <a:latin typeface="Poppins"/>
              </a:rPr>
              <a:t>⚠️ Observação: </a:t>
            </a:r>
            <a:r>
              <a:rPr sz="850" b="0">
                <a:solidFill>
                  <a:srgbClr val="304258"/>
                </a:solidFill>
                <a:latin typeface="Poppins"/>
              </a:rPr>
              <a:t>O instrumento Informação não gera atendimento.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481328"/>
            <a:ext cx="3739896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00784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EXEMPLO PRÁTICO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9339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Empresa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323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Sebratec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Empretec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5409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NF no portal Sebrae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64991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04258"/>
                </a:solidFill>
                <a:latin typeface="Poppins"/>
              </a:rPr>
              <a:t>➔ 1 Palestra na 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273552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Resultado consolidado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443984"/>
            <a:ext cx="3273552" cy="868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572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2756"/>
                </a:solidFill>
                <a:latin typeface="Poppins"/>
              </a:rPr>
              <a:t>1 Cliente Atendido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646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53E9"/>
                </a:solidFill>
                <a:latin typeface="Poppins"/>
              </a:rPr>
              <a:t>4 Atendimentos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REGRAS DE CONTABILIZAÇÃO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2756"/>
                </a:solidFill>
                <a:latin typeface="Poppins"/>
              </a:rPr>
              <a:t>Painéis: Clientes Atendidos e Atendimentos x Metas Mobilizadoras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2120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FOCO NA OPERAÇÃO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Painel de Clientes Atendidos e Atendimentos</a:t>
            </a:r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2"/>
          <a:srcRect t="17320" b="17320"/>
          <a:stretch>
            <a:fillRect/>
          </a:stretch>
        </p:blipFill>
        <p:spPr>
          <a:xfrm>
            <a:off x="731520" y="2468880"/>
            <a:ext cx="4663440" cy="182880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8680" y="449884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Olha diretamente para a atuação operacional do Sebrae/PB.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6577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Inclui clientes de outras UFs que foram atendidos pelo Sebrae/PB.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3270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Inclui empresas paraibanas atendidas diretamente pelo Sebrae Nacional (Sebrae/NA).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1481328"/>
            <a:ext cx="52120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FOCO NO TERRITÓRIO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19933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Painel de Metas Mobilizadoras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2"/>
          <a:srcRect t="17320" b="17320"/>
          <a:stretch>
            <a:fillRect/>
          </a:stretch>
        </p:blipFill>
        <p:spPr>
          <a:xfrm>
            <a:off x="6793992" y="2468880"/>
            <a:ext cx="4663440" cy="1828800"/>
          </a:xfrm>
          <a:prstGeom prst="rect">
            <a:avLst/>
          </a:prstGeom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6931152" y="449884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Olha com foco no público-alvo paraibano.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506577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Não contabiliza empresas com cadastro de outros estados, mesmo atendidas pelo PB.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563270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2353E9"/>
                </a:solidFill>
                <a:latin typeface="Poppins"/>
              </a:rPr>
              <a:t>▪ </a:t>
            </a:r>
            <a:r>
              <a:rPr sz="930" b="0">
                <a:solidFill>
                  <a:srgbClr val="304258"/>
                </a:solidFill>
                <a:latin typeface="Poppins"/>
              </a:rPr>
              <a:t>Contabiliza empresa paraibana que tenha sido atendida por outro Sebrae/UF no Brasil.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3566160"/>
            <a:ext cx="649224" cy="649224"/>
          </a:xfrm>
          <a:prstGeom prst="roundRect">
            <a:avLst>
              <a:gd name="adj" fmla="val 10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3730752"/>
            <a:ext cx="649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MATRIZ DE CONTABILIZAÇÃO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Um exemplo para não esquecer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4552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6632"/>
                <a:gridCol w="31089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Caso / Cenário Prático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Painel de Clientes Atendidos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Painel de Metas Mobilizadoras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da Paraíba atendida pelo Sebrae/PB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de Pernambuco atendida pelo Sebrae/PB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NÃO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da Paraíba atendida pelo Sebrae/PE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NÃO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E2756"/>
                          </a:solidFill>
                          <a:latin typeface="Poppins"/>
                        </a:rPr>
                        <a:t>Empresa da Paraíba atendida pelo Sebrae Nacional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04258"/>
                          </a:solidFill>
                          <a:latin typeface="Poppins"/>
                        </a:rPr>
                        <a:t>SIM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65392" y="211226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28254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0779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353872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362102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E7885"/>
                </a:solidFill>
                <a:latin typeface="Poppins"/>
              </a:rPr>
              <a:t>✘ NÃO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42519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33425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211226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2194560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4352" y="28254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290779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E7885"/>
                </a:solidFill>
                <a:latin typeface="Poppins"/>
              </a:rPr>
              <a:t>✘ NÃO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353872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362102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4352" y="42519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433425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✔ SIM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DIRECIONAMENTO ESTRATÉGICO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As 6 Metas Mobilizadoras do Sebrae/PB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57200" y="148132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713232" y="263347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7121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NPS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8211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Grau de recomendação do Sebrae pelo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3108" y="148132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293108" y="148132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549140" y="263347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9140" y="287121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ME + EPP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9140" y="318211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Percentual de Microempresas (ME) e Empresas de Pequeno Porte (EPP) atendidas pelo Sebrae no ano.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48132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8129016" y="148132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8385048" y="263347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87121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MEI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18211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Percentual de Microempreendedores Individuais (MEI) atendidos pelo Sebrae no 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8736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57200" y="408736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713232" y="523951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47725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Engajamento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78815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Percentual dos pequenos negócios atendidos pelo Sebrae considerados como engajados.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3108" y="408736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4293108" y="408736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4549140" y="523951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9140" y="547725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Grupos Sub-representados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9140" y="578815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Proporção de atendimentos do Sebrae às pessoas dos grupos sub-representados em relação à proporção populacional por tipo de grupo sub-representado.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4087368"/>
            <a:ext cx="360273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5.png"/>
          <p:cNvPicPr>
            <a:picLocks noChangeAspect="1"/>
          </p:cNvPicPr>
          <p:nvPr/>
        </p:nvPicPr>
        <p:blipFill>
          <a:blip r:embed="rId2"/>
          <a:srcRect t="21324" b="21324"/>
          <a:stretch>
            <a:fillRect/>
          </a:stretch>
        </p:blipFill>
        <p:spPr>
          <a:xfrm>
            <a:off x="8129016" y="4087368"/>
            <a:ext cx="3602736" cy="1051560"/>
          </a:xfrm>
          <a:prstGeom prst="rect">
            <a:avLst/>
          </a:prstGeom>
          <a:ln>
            <a:noFill/>
          </a:ln>
        </p:spPr>
      </p:pic>
      <p:sp>
        <p:nvSpPr>
          <p:cNvPr id="35" name="TextBox 34"/>
          <p:cNvSpPr txBox="1"/>
          <p:nvPr/>
        </p:nvSpPr>
        <p:spPr>
          <a:xfrm>
            <a:off x="8385048" y="5239512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53E9"/>
                </a:solidFill>
                <a:latin typeface="Poppins"/>
              </a:rPr>
              <a:t>META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5477256"/>
            <a:ext cx="3090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2756"/>
                </a:solidFill>
                <a:latin typeface="Poppins"/>
              </a:rPr>
              <a:t>REB + Convênio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5788152"/>
            <a:ext cx="3090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304258"/>
                </a:solidFill>
                <a:latin typeface="Poppins"/>
              </a:rPr>
              <a:t>Resultados gerados via Rede Estadual de Atendimento e parcerias em convênios de cooperação estratégica.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01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NPS (Net Promoter Score)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Grau de recomendação do Sebrae pelo cliente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coletado?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Pesquisa realizada de forma online, com envio de convite ao cliente por WhatsApp 60 dia após o registro do atendimento, tendo sido ampliada, a partir de 2024, para envios também via WhatsApp.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% Clientes Promotores (notas 9-10) − % Clientes Detratores (notas 0-6)</a:t>
            </a:r>
          </a:p>
        </p:txBody>
      </p:sp>
      <p:pic>
        <p:nvPicPr>
          <p:cNvPr id="14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15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18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Índice NPS Alvo</a:t>
            </a:r>
          </a:p>
        </p:txBody>
      </p:sp>
      <p:sp>
        <p:nvSpPr>
          <p:cNvPr id="19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2353E9"/>
                </a:solidFill>
                <a:latin typeface="Poppins"/>
              </a:rPr>
              <a:t>91,5</a:t>
            </a:r>
          </a:p>
        </p:txBody>
      </p:sp>
      <p:sp>
        <p:nvSpPr>
          <p:cNvPr id="20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Valor parametrizado conforme acordado no planejamento estratégico anual.</a:t>
            </a:r>
          </a:p>
        </p:txBody>
      </p:sp>
      <p:pic>
        <p:nvPicPr>
          <p:cNvPr id="21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2" name="Rounded Rectangle 21"/>
          <p:cNvSpPr/>
          <p:nvPr/>
        </p:nvSpPr>
        <p:spPr>
          <a:xfrm>
            <a:off x="457200" y="4956048"/>
            <a:ext cx="7315200" cy="530352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45720" cy="384047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47488"/>
            <a:ext cx="6949440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Observação: </a:t>
            </a:r>
            <a:r>
              <a:rPr sz="950" b="0">
                <a:solidFill>
                  <a:srgbClr val="B4540A"/>
                </a:solidFill>
                <a:latin typeface="Poppins"/>
              </a:rPr>
              <a:t>Não são pesquisados clientes cujo atendimento é realizado pelos canais email e redes sociais.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02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ME + EPP (Microempresas e Empresas de Pequeno Porte)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 penetração e o alcance do Sebrae junto ao universo de Microempresas (ME) e Empresas de Pequeno Porte (EPP) do estado.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ME e EPP sediadas no estado da Paraíba que foram atendidas por qualquer canal e unidade do Sistema Sebrae.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Total de ME e EPP Atendidas (CNPJ Único) ÷ Universo Total de ME/EPP do Estado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Distribuição de metas operacionais proporcional ao universo empresarial (densidade de empresas) de cada um dos territórios.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Contar o volume absoluto de atendimentos (interações) em vez de clientes individuais (CNPJs únicos). Se uma mesma ME/EPP realiza 10 consultorias, ela conta apenas uma vez para o alcance da meta de cobertura.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Percentual de Cobertura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%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Indicador estratégico nacional com pactuação local junto ao Conselho Deliberativo Estadual.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03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MEI (Microempreendedor Individual)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 cobertura e o alcance do Sebrae junto aos Microempreendedores Individuais (MEI) da Paraíba.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MEIs ativos no estado da Paraíba que foram atendidos por qualquer canal do Sistema Sebrae.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MEIs Atendidos (CNPJ Único) ÷ Total de MEIs Ativos no Estado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Proporcional ao número total de MEIs ativos registrados em cada município pertencente ao território da regional.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Incluir MEIs de outras Unidades Federativas (UFs) atendidos fisicamente em agências locais da Paraíba. Esse painel valida estritamente a localização jurídica do CNPJ ativo na Paraíba.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Percentual de Cobertura MEI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%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Meta de extrema relevância para a inclusão social e formalização de novos negócios.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04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Engajamento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 intensidade e a profundidade do relacionamento dos clientes com o Sebrae (fidelização e jornada de soluções).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Clientes com múltiplas interações qualificadas e complementares no período (ex: realizar curso + consultoria).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Regra nacional de engajamento baseada em uma pontuação ponderada de acordo com o tipo e complexidade de cada interação realizada.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Acompanhamento sistemático e detalhado por carteira de clientes ativos e metas de retenção atribuídas a cada unidade.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Confundir o indicador de engajamento com a quantidade bruta de atendimentos dispersos. O engajamento exige a complementaridade e evolução do mesmo cliente ao longo de múltiplos canais.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Pontuação de Engajamento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META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Métrica orientada à migração de atendimentos eventuais para trilhas integradas de soluções.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05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Grupos Sub-representados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O alcance e a cobertura de atendimento do Sebrae junto a públicos e grupos prioritários definidos nacionalmente.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Empresas e empreendedores que autodeclaram pertencimento aos grupos mapeados como prioritários ou sub-representados no ato do cadastro.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Clientes Atendidos Pertencentes aos Grupos (CNPJ Único) ÷ Universo Mapeado do Grupo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Distribuição com base nas características geodemográficas e na concentração territorial de cada grupo prioritário no estado.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Classificar clientes de forma equivocada sem a devida autodeclaração formal ou sem documentos comprobatórios exigidos nas regras técnicas de cadastramento do indicador.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Cobertura de Sub-representados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PREENCHER % OFICIAL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Métrica vital para o cumprimento da função social e do compromisso de diversidade do Sebrae.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META MOBILIZADORA 06 / 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756"/>
                </a:solidFill>
                <a:latin typeface="Poppins"/>
              </a:rPr>
              <a:t>REB + Convênio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q1"/>
          <p:cNvSpPr txBox="1"/>
          <p:nvPr/>
        </p:nvSpPr>
        <p:spPr>
          <a:xfrm>
            <a:off x="457200" y="148132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O que queremos medir?</a:t>
            </a:r>
          </a:p>
        </p:txBody>
      </p:sp>
      <p:sp>
        <p:nvSpPr>
          <p:cNvPr id="9" name="a1"/>
          <p:cNvSpPr txBox="1"/>
          <p:nvPr/>
        </p:nvSpPr>
        <p:spPr>
          <a:xfrm>
            <a:off x="457200" y="17739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Os resultados decorrentes da atuação da Rede Estadual de Atendimento (REB) em parceria com convênios estratégicos vigentes.</a:t>
            </a:r>
          </a:p>
        </p:txBody>
      </p:sp>
      <p:sp>
        <p:nvSpPr>
          <p:cNvPr id="10" name="q2"/>
          <p:cNvSpPr txBox="1"/>
          <p:nvPr/>
        </p:nvSpPr>
        <p:spPr>
          <a:xfrm>
            <a:off x="457200" y="23591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Quem entra na conta?</a:t>
            </a:r>
          </a:p>
        </p:txBody>
      </p:sp>
      <p:sp>
        <p:nvSpPr>
          <p:cNvPr id="11" name="a2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Clientes atendidos e registrados via pontos e salas da REB e ações vinculadas formalmente a convênios e parcerias técnicas locais.</a:t>
            </a:r>
          </a:p>
        </p:txBody>
      </p:sp>
      <p:sp>
        <p:nvSpPr>
          <p:cNvPr id="12" name="q3"/>
          <p:cNvSpPr txBox="1"/>
          <p:nvPr/>
        </p:nvSpPr>
        <p:spPr>
          <a:xfrm>
            <a:off x="457200" y="32369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Como é calculado?</a:t>
            </a:r>
          </a:p>
        </p:txBody>
      </p:sp>
      <p:sp>
        <p:nvSpPr>
          <p:cNvPr id="13" name="a3"/>
          <p:cNvSpPr txBox="1"/>
          <p:nvPr/>
        </p:nvSpPr>
        <p:spPr>
          <a:xfrm>
            <a:off x="45720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[ Regra definida pela Diretoria Técnica — Aguardando Parametrização ]</a:t>
            </a:r>
          </a:p>
        </p:txBody>
      </p:sp>
      <p:sp>
        <p:nvSpPr>
          <p:cNvPr id="14" name="q4"/>
          <p:cNvSpPr txBox="1"/>
          <p:nvPr/>
        </p:nvSpPr>
        <p:spPr>
          <a:xfrm>
            <a:off x="457200" y="41148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2756"/>
                </a:solidFill>
                <a:latin typeface="Poppins"/>
              </a:rPr>
              <a:t>Desdobramento para as Regionais</a:t>
            </a:r>
          </a:p>
        </p:txBody>
      </p:sp>
      <p:sp>
        <p:nvSpPr>
          <p:cNvPr id="15" name="a4"/>
          <p:cNvSpPr txBox="1"/>
          <p:nvPr/>
        </p:nvSpPr>
        <p:spPr>
          <a:xfrm>
            <a:off x="457200" y="4407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304258"/>
                </a:solidFill>
                <a:latin typeface="Poppins"/>
              </a:rPr>
              <a:t>Divisão proporcional conforme a capilaridade, participação ativa das salas locais e representatividade das unidades no ecossistema regional.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92624"/>
            <a:ext cx="7315200" cy="73152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65776"/>
            <a:ext cx="45720" cy="58521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0E2756"/>
                </a:solidFill>
                <a:latin typeface="Poppins"/>
              </a:rPr>
              <a:t>⚠️ Atenção (Erro Comum): </a:t>
            </a:r>
            <a:r>
              <a:rPr sz="950" b="0">
                <a:solidFill>
                  <a:srgbClr val="B4540A"/>
                </a:solidFill>
                <a:latin typeface="Poppins"/>
              </a:rPr>
              <a:t>Misturar os dados e atendimentos diretos das salas da REB com os atendimentos gerais da equipe interna das agências Sebrae sem a correta codificação de parceiros.</a:t>
            </a:r>
          </a:p>
        </p:txBody>
      </p:sp>
      <p:pic>
        <p:nvPicPr>
          <p:cNvPr id="19" name="img_left" descr="image6.png"/>
          <p:cNvPicPr>
            <a:picLocks noChangeAspect="1"/>
          </p:cNvPicPr>
          <p:nvPr/>
        </p:nvPicPr>
        <p:blipFill>
          <a:blip r:embed="rId2"/>
          <a:srcRect t="40550" b="40550"/>
          <a:stretch>
            <a:fillRect/>
          </a:stretch>
        </p:blipFill>
        <p:spPr>
          <a:xfrm>
            <a:off x="457200" y="5797296"/>
            <a:ext cx="7315200" cy="640080"/>
          </a:xfrm>
          <a:prstGeom prst="rect">
            <a:avLst/>
          </a:prstGeom>
          <a:ln>
            <a:noFill/>
          </a:ln>
        </p:spPr>
      </p:pic>
      <p:sp>
        <p:nvSpPr>
          <p:cNvPr id="20" name="kpi_card"/>
          <p:cNvSpPr/>
          <p:nvPr/>
        </p:nvSpPr>
        <p:spPr>
          <a:xfrm>
            <a:off x="7973568" y="1481328"/>
            <a:ext cx="3758184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481328"/>
            <a:ext cx="3758184" cy="82296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_eyebrow"/>
          <p:cNvSpPr txBox="1"/>
          <p:nvPr/>
        </p:nvSpPr>
        <p:spPr>
          <a:xfrm>
            <a:off x="8247888" y="1700784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META SEBRAE/PB 2026</a:t>
            </a:r>
          </a:p>
        </p:txBody>
      </p:sp>
      <p:sp>
        <p:nvSpPr>
          <p:cNvPr id="23" name="kpi_label"/>
          <p:cNvSpPr txBox="1"/>
          <p:nvPr/>
        </p:nvSpPr>
        <p:spPr>
          <a:xfrm>
            <a:off x="8247888" y="1984248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E2756"/>
                </a:solidFill>
                <a:latin typeface="Poppins"/>
              </a:rPr>
              <a:t>Indicador REB</a:t>
            </a:r>
          </a:p>
        </p:txBody>
      </p:sp>
      <p:sp>
        <p:nvSpPr>
          <p:cNvPr id="24" name="kpi_number"/>
          <p:cNvSpPr txBox="1"/>
          <p:nvPr/>
        </p:nvSpPr>
        <p:spPr>
          <a:xfrm>
            <a:off x="8247888" y="2715768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E7885"/>
                </a:solidFill>
                <a:latin typeface="Poppins"/>
              </a:rPr>
              <a:t>[ AGUARDANDO REGRAS ]</a:t>
            </a:r>
          </a:p>
        </p:txBody>
      </p:sp>
      <p:sp>
        <p:nvSpPr>
          <p:cNvPr id="25" name="kpi_note"/>
          <p:cNvSpPr txBox="1"/>
          <p:nvPr/>
        </p:nvSpPr>
        <p:spPr>
          <a:xfrm>
            <a:off x="8247888" y="3721608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Indicador pactuado localmente de acordo com o plano operacional das Unidades de Atendimento.</a:t>
            </a:r>
          </a:p>
        </p:txBody>
      </p:sp>
      <p:pic>
        <p:nvPicPr>
          <p:cNvPr id="26" name="kpi_img" descr="image7.png"/>
          <p:cNvPicPr>
            <a:picLocks noChangeAspect="1"/>
          </p:cNvPicPr>
          <p:nvPr/>
        </p:nvPicPr>
        <p:blipFill>
          <a:blip r:embed="rId3"/>
          <a:srcRect t="12479" b="12479"/>
          <a:stretch>
            <a:fillRect/>
          </a:stretch>
        </p:blipFill>
        <p:spPr>
          <a:xfrm>
            <a:off x="8202168" y="4361688"/>
            <a:ext cx="3300984" cy="1965960"/>
          </a:xfrm>
          <a:prstGeom prst="rect">
            <a:avLst/>
          </a:prstGeom>
          <a:ln>
            <a:noFill/>
          </a:ln>
        </p:spPr>
      </p:pic>
      <p:sp>
        <p:nvSpPr>
          <p:cNvPr id="27" name="Rectangle 26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56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9AFF"/>
                </a:solidFill>
                <a:latin typeface="Poppins"/>
              </a:rPr>
              <a:t>Navegação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Agora vamos para o SIME!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8778240" cy="868680"/>
          </a:xfrm>
          <a:prstGeom prst="roundRect">
            <a:avLst>
              <a:gd name="adj" fmla="val 6000"/>
            </a:avLst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2624328"/>
            <a:ext cx="45720" cy="649224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624328"/>
            <a:ext cx="8092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59AFF"/>
                </a:solidFill>
                <a:latin typeface="Poppins"/>
              </a:rPr>
              <a:t>“</a:t>
            </a:r>
            <a:r>
              <a:rPr sz="1300" b="0">
                <a:solidFill>
                  <a:srgbClr val="FFFFFF"/>
                </a:solidFill>
                <a:latin typeface="Poppins"/>
              </a:rPr>
              <a:t>Agora que sabemos exatamente o que os números significam… Vamos encontrá-los e analisá-los ao vivo na plataforma do SIME.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59AFF"/>
                </a:solidFill>
                <a:latin typeface="Poppins"/>
              </a:rPr>
              <a:t>Início da Demonstração Ao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CE4F2"/>
                </a:solidFill>
                <a:latin typeface="Poppins"/>
              </a:rPr>
              <a:t>➔ Abra o seu navegador e acesse a plataforma interna do SIME.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0288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DCE4F2"/>
                </a:solidFill>
                <a:latin typeface="Poppins"/>
              </a:rPr>
              <a:t>➔ Tenha em mãos as dúvidas mais recorrentes de sua agência regional para investigarmos.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4357116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➔ Acesso ao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C"/>
                </a:solidFill>
                <a:latin typeface="Poppins"/>
              </a:rPr>
              <a:t>Capacitação SIME • Sebrae/PB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758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FB0CC"/>
                </a:solidFill>
                <a:latin typeface="Poppins"/>
              </a:rPr>
              <a:t>Slide 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INTERFACE &amp; NAVEGAÇÃO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Painel de Clientes Atendidos e Atendimentos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ESTRUTURA DO PAINEL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Filtros e Visão Geral</a:t>
            </a:r>
          </a:p>
        </p:txBody>
      </p:sp>
      <p:pic>
        <p:nvPicPr>
          <p:cNvPr id="11" name="Picture 10" descr="image9.png"/>
          <p:cNvPicPr>
            <a:picLocks noChangeAspect="1"/>
          </p:cNvPicPr>
          <p:nvPr/>
        </p:nvPicPr>
        <p:blipFill>
          <a:blip r:embed="rId2"/>
          <a:srcRect t="27013" b="27013"/>
          <a:stretch>
            <a:fillRect/>
          </a:stretch>
        </p:blipFill>
        <p:spPr>
          <a:xfrm>
            <a:off x="731520" y="2377440"/>
            <a:ext cx="4846320" cy="157276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8680" y="4059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Visão Geral: Total de clientes ➔ Total de atendimentos ➔ Perfil consolidado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171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Filtros Principais: Período referencial ➔ Unidade/Agência ➔ Município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743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Filtros Avançados: Porte empresarial ➔ Canal de atendimento ➔ Demais dimensões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Utilize a combinação de múltiplos filtros para obter diagnósticos altamente específicos por território.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INTELIGÊNCIA DE GESTÃO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Perguntas que o painel responde</a:t>
            </a:r>
          </a:p>
        </p:txBody>
      </p:sp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3"/>
          <a:srcRect t="27013" b="27013"/>
          <a:stretch>
            <a:fillRect/>
          </a:stretch>
        </p:blipFill>
        <p:spPr>
          <a:xfrm>
            <a:off x="6611112" y="2377440"/>
            <a:ext cx="4846320" cy="1572768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766560" y="4059936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Quantos clientes individuais nós conseguimos atingir no período?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480560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Qual o volume absoluto de atendimentos prestados por nossa equipe?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01184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Qual o perfil de porte e localização desses clientes assistidos?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321808"/>
            <a:ext cx="4663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353E9"/>
                </a:solidFill>
                <a:latin typeface="Poppins"/>
              </a:rPr>
              <a:t>? </a:t>
            </a:r>
            <a:r>
              <a:rPr sz="919" b="0">
                <a:solidFill>
                  <a:srgbClr val="304258"/>
                </a:solidFill>
                <a:latin typeface="Poppins"/>
              </a:rPr>
              <a:t>Qual agência ou regional realizou a maior parcela desses esforços?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760720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Este painel serve para justificar o esforço operacional de atendimento da regional.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63056"/>
            <a:ext cx="11274552" cy="365760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6227064"/>
            <a:ext cx="45720" cy="237744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208776"/>
            <a:ext cx="10872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0E2756"/>
                </a:solidFill>
                <a:latin typeface="Poppins"/>
              </a:rPr>
              <a:t>Dica: </a:t>
            </a:r>
            <a:r>
              <a:rPr sz="950" b="0">
                <a:solidFill>
                  <a:srgbClr val="304258"/>
                </a:solidFill>
                <a:latin typeface="Poppins"/>
              </a:rPr>
              <a:t>Certifique-se de limpar os filtros antes de iniciar uma nova pesquisa para evitar dados residuais!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ACOMPANHAMENTO E ANÁLISE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Painel de Metas Mobilizadoras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VISUALIZAÇÃO ESTRATÉGICA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Componentes do Acompanhamento</a:t>
            </a:r>
          </a:p>
        </p:txBody>
      </p:sp>
      <p:pic>
        <p:nvPicPr>
          <p:cNvPr id="11" name="Picture 10" descr="image11.png"/>
          <p:cNvPicPr>
            <a:picLocks noChangeAspect="1"/>
          </p:cNvPicPr>
          <p:nvPr/>
        </p:nvPicPr>
        <p:blipFill>
          <a:blip r:embed="rId2"/>
          <a:srcRect t="24714" b="24714"/>
          <a:stretch>
            <a:fillRect/>
          </a:stretch>
        </p:blipFill>
        <p:spPr>
          <a:xfrm>
            <a:off x="731520" y="2377440"/>
            <a:ext cx="4846320" cy="157276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8680" y="4059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Resultado Sebrae/PB: Desempenho geral consolidado do 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988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Meta Pactuada: O valor alvo formalmente acordado para o 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Percentual de Alcance: O quão próximo estamos de bater a meta de gestão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76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▪ </a:t>
            </a:r>
            <a:r>
              <a:rPr sz="919" b="0">
                <a:solidFill>
                  <a:srgbClr val="304258"/>
                </a:solidFill>
                <a:latin typeface="Poppins"/>
              </a:rPr>
              <a:t>Resultado por Unidade/Agência: Detalhamento tático para identificar gaps operacionais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9729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E7885"/>
                </a:solidFill>
                <a:latin typeface="Poppins"/>
              </a:rPr>
              <a:t>* Este painel é o principal instrumento de acompanhamento para as reuniões de resultados e tomadas de decisão estratégica das chefias.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481328"/>
            <a:ext cx="539496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PERGUNTA DE GESTÃO</a:t>
            </a:r>
          </a:p>
        </p:txBody>
      </p:sp>
      <p:pic>
        <p:nvPicPr>
          <p:cNvPr id="19" name="Picture 18" descr="image12.png"/>
          <p:cNvPicPr>
            <a:picLocks noChangeAspect="1"/>
          </p:cNvPicPr>
          <p:nvPr/>
        </p:nvPicPr>
        <p:blipFill>
          <a:blip r:embed="rId3"/>
          <a:srcRect t="25943" b="25943"/>
          <a:stretch>
            <a:fillRect/>
          </a:stretch>
        </p:blipFill>
        <p:spPr>
          <a:xfrm>
            <a:off x="6611112" y="2048256"/>
            <a:ext cx="4846320" cy="1828800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611112" y="40416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E2756"/>
                </a:solidFill>
                <a:latin typeface="Poppins"/>
              </a:rPr>
              <a:t>“Estamos alcançando os resultados estratégicos que pactuamos?”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5262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2353E9"/>
                </a:solidFill>
                <a:latin typeface="Poppins"/>
              </a:rPr>
              <a:t>Foco em Solução: </a:t>
            </a:r>
            <a:r>
              <a:rPr sz="919" b="0">
                <a:solidFill>
                  <a:srgbClr val="304258"/>
                </a:solidFill>
                <a:latin typeface="Poppins"/>
              </a:rPr>
              <a:t>Caso o percentual de alcance de uma regional esteja abaixo do planejado para o período, o painel auxilia a rastrear onde está o gargalo operacional.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163056"/>
            <a:ext cx="11274552" cy="365760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227064"/>
            <a:ext cx="45720" cy="237744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208776"/>
            <a:ext cx="10872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0E2756"/>
                </a:solidFill>
                <a:latin typeface="Poppins"/>
              </a:rPr>
              <a:t>Lembre-se: </a:t>
            </a:r>
            <a:r>
              <a:rPr sz="950" b="0">
                <a:solidFill>
                  <a:srgbClr val="304258"/>
                </a:solidFill>
                <a:latin typeface="Poppins"/>
              </a:rPr>
              <a:t>As Metas Mobilizadoras são calculadas com regras territoriais e não puramente operacionais!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DESAFIO PRÁTICO COLETIVO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Exercício final — Da análise à ação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SITUAÇÃO-PROBLEMA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Apresentação para a DIREX</a:t>
            </a:r>
          </a:p>
        </p:txBody>
      </p:sp>
      <p:pic>
        <p:nvPicPr>
          <p:cNvPr id="11" name="Picture 10" descr="image13.png"/>
          <p:cNvPicPr>
            <a:picLocks noChangeAspect="1"/>
          </p:cNvPicPr>
          <p:nvPr/>
        </p:nvPicPr>
        <p:blipFill>
          <a:blip r:embed="rId2"/>
          <a:srcRect t="24340" b="24340"/>
          <a:stretch>
            <a:fillRect/>
          </a:stretch>
        </p:blipFill>
        <p:spPr>
          <a:xfrm>
            <a:off x="731520" y="2377440"/>
            <a:ext cx="4846320" cy="146304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731520" y="3950208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304258"/>
                </a:solidFill>
                <a:latin typeface="Poppins"/>
              </a:rPr>
              <a:t>Você foi convidado para apresentar, em uma reunião de Diretoria Executiva (</a:t>
            </a:r>
            <a:r>
              <a:rPr sz="919" b="1">
                <a:solidFill>
                  <a:srgbClr val="0E2756"/>
                </a:solidFill>
                <a:latin typeface="Poppins"/>
              </a:rPr>
              <a:t>DIREX</a:t>
            </a:r>
            <a:r>
              <a:rPr sz="919" b="0">
                <a:solidFill>
                  <a:srgbClr val="304258"/>
                </a:solidFill>
                <a:latin typeface="Poppins"/>
              </a:rPr>
              <a:t>), a situação atualizada de resultados operacionais e estratégicos da sua Agência/Unidade Regional.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304258"/>
                </a:solidFill>
                <a:latin typeface="Poppins"/>
              </a:rPr>
              <a:t>Utilizando o </a:t>
            </a:r>
            <a:r>
              <a:rPr sz="919" b="1">
                <a:solidFill>
                  <a:srgbClr val="0E2756"/>
                </a:solidFill>
                <a:latin typeface="Poppins"/>
              </a:rPr>
              <a:t>SIME</a:t>
            </a:r>
            <a:r>
              <a:rPr sz="919" b="0">
                <a:solidFill>
                  <a:srgbClr val="304258"/>
                </a:solidFill>
                <a:latin typeface="Poppins"/>
              </a:rPr>
              <a:t>, você deve analisar friamente os resultados atuais, mapear os pontos críticos e estruturar um plano de ação robusto e defensável para alcançar as metas estipuladas.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4846320" cy="40233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54126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B4540A"/>
                </a:solidFill>
                <a:latin typeface="Poppins"/>
              </a:rPr>
              <a:t>⏳ Tempo estimado para a atividade: 40 a 50 minutos.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1481328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PLANO DE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9751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2756"/>
                </a:solidFill>
                <a:latin typeface="Poppins"/>
              </a:rPr>
              <a:t>O que cada grupo deve fazer</a:t>
            </a:r>
          </a:p>
        </p:txBody>
      </p:sp>
      <p:pic>
        <p:nvPicPr>
          <p:cNvPr id="19" name="Picture 18" descr="image14.png"/>
          <p:cNvPicPr>
            <a:picLocks noChangeAspect="1"/>
          </p:cNvPicPr>
          <p:nvPr/>
        </p:nvPicPr>
        <p:blipFill>
          <a:blip r:embed="rId3"/>
          <a:srcRect t="24340" b="24340"/>
          <a:stretch>
            <a:fillRect/>
          </a:stretch>
        </p:blipFill>
        <p:spPr>
          <a:xfrm>
            <a:off x="6611112" y="2377440"/>
            <a:ext cx="4846320" cy="1463040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766560" y="3950208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Acessar o </a:t>
            </a:r>
            <a:r>
              <a:rPr sz="880" b="1">
                <a:solidFill>
                  <a:srgbClr val="0E2756"/>
                </a:solidFill>
                <a:latin typeface="Poppins"/>
              </a:rPr>
              <a:t>SIME</a:t>
            </a:r>
            <a:r>
              <a:rPr sz="880" b="0">
                <a:solidFill>
                  <a:srgbClr val="304258"/>
                </a:solidFill>
                <a:latin typeface="Poppins"/>
              </a:rPr>
              <a:t> e aplicar o filtro exclusivo da sua Agência/Unidade Regional.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97680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Identificar o percentual de alcance real de cada uma das Metas Mobilizadoras.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645152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Classificar as metas em: </a:t>
            </a:r>
            <a:r>
              <a:rPr sz="880" b="1">
                <a:solidFill>
                  <a:srgbClr val="0E2756"/>
                </a:solidFill>
                <a:latin typeface="Poppins"/>
              </a:rPr>
              <a:t>dentro/acima do esperado</a:t>
            </a:r>
            <a:r>
              <a:rPr sz="880" b="0">
                <a:solidFill>
                  <a:srgbClr val="304258"/>
                </a:solidFill>
                <a:latin typeface="Poppins"/>
              </a:rPr>
              <a:t>, em </a:t>
            </a:r>
            <a:r>
              <a:rPr sz="880" b="1">
                <a:solidFill>
                  <a:srgbClr val="0E2756"/>
                </a:solidFill>
                <a:latin typeface="Poppins"/>
              </a:rPr>
              <a:t>atenção</a:t>
            </a:r>
            <a:r>
              <a:rPr sz="880" b="0">
                <a:solidFill>
                  <a:srgbClr val="304258"/>
                </a:solidFill>
                <a:latin typeface="Poppins"/>
              </a:rPr>
              <a:t>, ou com </a:t>
            </a:r>
            <a:r>
              <a:rPr sz="880" b="1">
                <a:solidFill>
                  <a:srgbClr val="0E2756"/>
                </a:solidFill>
                <a:latin typeface="Poppins"/>
              </a:rPr>
              <a:t>maior gap</a:t>
            </a:r>
            <a:r>
              <a:rPr sz="880" b="0">
                <a:solidFill>
                  <a:srgbClr val="304258"/>
                </a:solidFill>
                <a:latin typeface="Poppi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92624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Cruzar com dados de clientes atendidos e atendimentos para buscar explicações técnicas.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40096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Escolher </a:t>
            </a:r>
            <a:r>
              <a:rPr sz="880" b="1">
                <a:solidFill>
                  <a:srgbClr val="0E2756"/>
                </a:solidFill>
                <a:latin typeface="Poppins"/>
              </a:rPr>
              <a:t>até 3 prioridades estratégicas</a:t>
            </a:r>
            <a:r>
              <a:rPr sz="880" b="0">
                <a:solidFill>
                  <a:srgbClr val="304258"/>
                </a:solidFill>
                <a:latin typeface="Poppins"/>
              </a:rPr>
              <a:t> para evitar planos de ação genéricos.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687568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>
                <a:solidFill>
                  <a:srgbClr val="2353E9"/>
                </a:solidFill>
                <a:latin typeface="Poppins"/>
              </a:rPr>
              <a:t>✔ </a:t>
            </a:r>
            <a:r>
              <a:rPr sz="880" b="0">
                <a:solidFill>
                  <a:srgbClr val="304258"/>
                </a:solidFill>
                <a:latin typeface="Poppins"/>
              </a:rPr>
              <a:t>Construir ações táticas concretas direcionadas à resolução desses gargalos.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71616"/>
            <a:ext cx="11274552" cy="457200"/>
          </a:xfrm>
          <a:prstGeom prst="roundRect">
            <a:avLst>
              <a:gd name="adj" fmla="val 6000"/>
            </a:avLst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6181344"/>
            <a:ext cx="45720" cy="237744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6181344"/>
            <a:ext cx="105887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559AFF"/>
                </a:solidFill>
                <a:latin typeface="Poppins"/>
              </a:rPr>
              <a:t>“</a:t>
            </a:r>
            <a:r>
              <a:rPr sz="1150" b="0">
                <a:solidFill>
                  <a:srgbClr val="FFFFFF"/>
                </a:solidFill>
                <a:latin typeface="Poppins"/>
              </a:rPr>
              <a:t>Não queremos uma apresentação de números. Queremos uma proposta de gestão.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559AFF"/>
                </a:solidFill>
                <a:latin typeface="Poppins"/>
              </a:rPr>
              <a:t>SIME ➔ Análise ➔ Decisão ➔ Ação ➔ Resultado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INSTRUMENTO DE GESTÃO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Plano de ação — do dado à entrega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17904"/>
          <a:ext cx="1127455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914400"/>
                <a:gridCol w="777240"/>
                <a:gridCol w="2468880"/>
                <a:gridCol w="2514600"/>
                <a:gridCol w="1600200"/>
                <a:gridCol w="713232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Meta / Indicador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Result. Atual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Gap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O que os dados mostram?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Ação proposta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Expectativa de Resultado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Prazo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Poppins"/>
                        </a:rPr>
                        <a:t>Responsável</a:t>
                      </a:r>
                    </a:p>
                  </a:txBody>
                  <a:tcPr marL="73152" marR="54864" marT="36576" marB="36576" anchor="ctr">
                    <a:solidFill>
                      <a:srgbClr val="0E275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E2756"/>
                          </a:solidFill>
                          <a:latin typeface="Poppins"/>
                        </a:rPr>
                        <a:t>Cobertura MEI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pp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Baixa cobertura observada em municípios específicos da regional.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Realizar ação integrada de mobilização itinerante e mutirão de formalização de parceiros.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Incorporar +150 novos MEIs à base da meta estadual.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Set/26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Agência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0E2756"/>
                          </a:solidFill>
                          <a:latin typeface="Poppins"/>
                        </a:rPr>
                        <a:t>Engajamento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pts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XX pts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Alto volume de empresas com atendimento único, mas poucas recorrentes.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Trabalhar ativação da carteira de empresas com maior potencial de trilhas de consultoria.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Elevar índice de engajamento da carteira prioritária em 12%.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Out/26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304258"/>
                          </a:solidFill>
                          <a:latin typeface="Poppins"/>
                        </a:rPr>
                        <a:t>Gestor</a:t>
                      </a:r>
                    </a:p>
                  </a:txBody>
                  <a:tcPr marL="73152" marR="54864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703320"/>
            <a:ext cx="11274552" cy="420624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45720" cy="2926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76472"/>
            <a:ext cx="1087221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0E2756"/>
                </a:solidFill>
                <a:latin typeface="Poppins"/>
              </a:rPr>
              <a:t>📌 Importante: </a:t>
            </a:r>
            <a:r>
              <a:rPr sz="950" b="0">
                <a:solidFill>
                  <a:srgbClr val="304258"/>
                </a:solidFill>
                <a:latin typeface="Poppins"/>
              </a:rPr>
              <a:t>Cada ação proposta deve estar estritamente conectada ao gap identificado e estimar claramente quanto resultado pretende gerar.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083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2756"/>
                </a:solidFill>
                <a:latin typeface="Poppins"/>
              </a:rPr>
              <a:t>Estrutura da Apresentação à DIREX (Apenas 5 minutos por grupo)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Onde estamos?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Apresentação diagnóstica do estado atual.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Onde chegar?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Pactuações de metas planejadas.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Principal problema?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O maior gap ou ponto crítico mapeado.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O que faremos?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Ação estratégica e tática proposta.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4718304"/>
            <a:ext cx="21305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4718304"/>
            <a:ext cx="2130552" cy="64008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882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53E9"/>
                </a:solidFill>
                <a:latin typeface="Poppi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37667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2756"/>
                </a:solidFill>
                <a:latin typeface="Poppins"/>
              </a:rPr>
              <a:t>Quanto contribui?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5705856"/>
            <a:ext cx="1764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850" b="0">
                <a:solidFill>
                  <a:srgbClr val="304258"/>
                </a:solidFill>
                <a:latin typeface="Poppins"/>
              </a:rPr>
              <a:t>Expectativa numérica de entrega.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02336"/>
            <a:ext cx="118872" cy="118872"/>
          </a:xfrm>
          <a:prstGeom prst="rect">
            <a:avLst/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48056"/>
            <a:ext cx="118872" cy="118872"/>
          </a:xfrm>
          <a:prstGeom prst="rect">
            <a:avLst/>
          </a:prstGeom>
          <a:solidFill>
            <a:srgbClr val="235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3657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53E9"/>
                </a:solidFill>
                <a:latin typeface="Poppins"/>
              </a:rPr>
              <a:t>CONCLUSÃO E PRÓXIMOS PASSOS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2756"/>
                </a:solidFill>
                <a:latin typeface="Poppins"/>
              </a:rPr>
              <a:t>O que quero que vocês levem daqui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10241280" y="457200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93BA7"/>
                </a:solidFill>
                <a:latin typeface="Poppins"/>
              </a:rPr>
              <a:t>Sebrae/PB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39496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REGRAS E CONCEITOS</a:t>
            </a:r>
          </a:p>
        </p:txBody>
      </p:sp>
      <p:pic>
        <p:nvPicPr>
          <p:cNvPr id="10" name="Picture 9" descr="image15.png"/>
          <p:cNvPicPr>
            <a:picLocks noChangeAspect="1"/>
          </p:cNvPicPr>
          <p:nvPr/>
        </p:nvPicPr>
        <p:blipFill>
          <a:blip r:embed="rId2"/>
          <a:srcRect t="20593" b="20593"/>
          <a:stretch>
            <a:fillRect/>
          </a:stretch>
        </p:blipFill>
        <p:spPr>
          <a:xfrm>
            <a:off x="731520" y="2048256"/>
            <a:ext cx="4846320" cy="16002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868680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Atendimento e cliente atendido são métricas com naturezas de contagem estruturalmente diferentes.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Cada painel possui uma regra específica de cálculo e serve para responder a uma pergunta de negócio diferente.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92623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As Metas Mobilizadoras traduzem de forma prática a visão estratégica de longo prazo do Sebrae em resultados mensuráveis.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481328"/>
            <a:ext cx="539496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70078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353E9"/>
                </a:solidFill>
                <a:latin typeface="Poppins"/>
              </a:rPr>
              <a:t>GESTÃO ORIENTADA A DADOS</a:t>
            </a:r>
          </a:p>
        </p:txBody>
      </p:sp>
      <p:pic>
        <p:nvPicPr>
          <p:cNvPr id="16" name="Picture 15" descr="image15.png"/>
          <p:cNvPicPr>
            <a:picLocks noChangeAspect="1"/>
          </p:cNvPicPr>
          <p:nvPr/>
        </p:nvPicPr>
        <p:blipFill>
          <a:blip r:embed="rId2"/>
          <a:srcRect t="20593" b="20593"/>
          <a:stretch>
            <a:fillRect/>
          </a:stretch>
        </p:blipFill>
        <p:spPr>
          <a:xfrm>
            <a:off x="6611112" y="2048256"/>
            <a:ext cx="4846320" cy="1600200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6748272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O SIME não serve apenas para acompanhar números ou preencher relatórios frios de metas.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440740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A plataforma serve fundamentalmente para identificar tendências e pontos onde precisamos intervir com plano de ação comercial.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4992623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53E9"/>
                </a:solidFill>
                <a:latin typeface="Poppins"/>
              </a:rPr>
              <a:t>➔ </a:t>
            </a:r>
            <a:r>
              <a:rPr sz="900" b="0">
                <a:solidFill>
                  <a:srgbClr val="304258"/>
                </a:solidFill>
                <a:latin typeface="Poppins"/>
              </a:rPr>
              <a:t>Tomadas de decisões táticas baseadas em relatórios do SIME mitigam desperdício de recursos regionais.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89320"/>
            <a:ext cx="11274552" cy="512064"/>
          </a:xfrm>
          <a:prstGeom prst="roundRect">
            <a:avLst>
              <a:gd name="adj" fmla="val 6000"/>
            </a:avLst>
          </a:prstGeom>
          <a:solidFill>
            <a:srgbClr val="0E2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6099048"/>
            <a:ext cx="45720" cy="292608"/>
          </a:xfrm>
          <a:prstGeom prst="rect">
            <a:avLst/>
          </a:prstGeom>
          <a:solidFill>
            <a:srgbClr val="55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6099048"/>
            <a:ext cx="105887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59AFF"/>
                </a:solidFill>
                <a:latin typeface="Poppins"/>
              </a:rPr>
              <a:t>“</a:t>
            </a:r>
            <a:r>
              <a:rPr sz="1300" b="0">
                <a:solidFill>
                  <a:srgbClr val="FFFFFF"/>
                </a:solidFill>
                <a:latin typeface="Poppins"/>
              </a:rPr>
              <a:t>O dado mostra onde estamos. A gestão decide para onde vamos.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547104"/>
            <a:ext cx="11274552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1111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7885"/>
                </a:solidFill>
                <a:latin typeface="Poppins"/>
              </a:rPr>
              <a:t>Monitoramento da Estratégia • Sebrae/PB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611112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E7885"/>
                </a:solidFill>
                <a:latin typeface="Poppins"/>
              </a:rPr>
              <a:t>Slide 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