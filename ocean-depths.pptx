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06440" y="6693408"/>
            <a:ext cx="0" cy="164592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23560" y="6693408"/>
            <a:ext cx="0" cy="164592"/>
          </a:xfrm>
          <a:prstGeom prst="rect">
            <a:avLst/>
          </a:prstGeom>
          <a:solidFill>
            <a:srgbClr val="26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40680" y="6693408"/>
            <a:ext cx="0" cy="164592"/>
          </a:xfrm>
          <a:prstGeom prst="rect">
            <a:avLst/>
          </a:prstGeom>
          <a:solidFill>
            <a:srgbClr val="1F4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57800" y="6693408"/>
            <a:ext cx="1" cy="164592"/>
          </a:xfrm>
          <a:prstGeom prst="rect">
            <a:avLst/>
          </a:prstGeom>
          <a:solidFill>
            <a:srgbClr val="16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5560" y="603504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A8DADC"/>
                </a:solidFill>
                <a:latin typeface="DejaVu Sans"/>
              </a:rPr>
              <a:t>0 m</a:t>
            </a:r>
          </a:p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A8DADC"/>
                </a:solidFill>
                <a:latin typeface="DejaVu Sans"/>
              </a:rPr>
              <a:t>6.000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D8B8B"/>
                </a:solidFill>
                <a:latin typeface="DejaVu Sans"/>
              </a:rPr>
              <a:t>PESQUISA &amp; EXPLORAÇÃO  ·  RELATÓRIO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F1FAEE"/>
                </a:solidFill>
                <a:latin typeface="DejaVu Sans"/>
              </a:rPr>
              <a:t>Ocean Depths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429000"/>
            <a:ext cx="2377440" cy="32004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703320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>
                <a:solidFill>
                  <a:srgbClr val="A8DADC"/>
                </a:solidFill>
                <a:latin typeface="DejaVu Sans"/>
              </a:rPr>
              <a:t>Explorando o último continente inexplorado da Terra — as profundezas do oceano concentram os maiores mistérios do planeta.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6235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1FAEE"/>
                </a:solidFill>
                <a:latin typeface="DejaVu Sans"/>
              </a:rPr>
              <a:t>OCEAN RESEARCH GROUP</a:t>
            </a:r>
            <a:r>
              <a:rPr sz="1300" b="0">
                <a:solidFill>
                  <a:srgbClr val="A8DADC"/>
                </a:solidFill>
                <a:latin typeface="DejaVu Sans"/>
              </a:rPr>
              <a:t>   |   Departamento de Exploração Submarina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82296" cy="566928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D8B8B"/>
                </a:solidFill>
                <a:latin typeface="DejaVu Sans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41248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1FAEE"/>
                </a:solidFill>
                <a:latin typeface="DejaVu Sans"/>
              </a:rPr>
              <a:t>O maior habitat da Terra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D8B8B"/>
                </a:solidFill>
                <a:latin typeface="DejaVu Sans"/>
              </a:rPr>
              <a:t>OCEAN DEPTHS</a:t>
            </a:r>
            <a:r>
              <a:rPr sz="900" b="0">
                <a:solidFill>
                  <a:srgbClr val="A8DADC"/>
                </a:solidFill>
                <a:latin typeface="DejaVu Sans"/>
              </a:rPr>
              <a:t>  ·  demonstração de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D8B8B"/>
                </a:solidFill>
                <a:latin typeface="DejaVu Sans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0" y="6053328"/>
            <a:ext cx="777240" cy="22860"/>
          </a:xfrm>
          <a:prstGeom prst="rect">
            <a:avLst/>
          </a:prstGeom>
          <a:solidFill>
            <a:srgbClr val="23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5989320"/>
            <a:ext cx="1417320" cy="22860"/>
          </a:xfrm>
          <a:prstGeom prst="rect">
            <a:avLst/>
          </a:prstGeom>
          <a:solidFill>
            <a:srgbClr val="23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35440" y="5925312"/>
            <a:ext cx="2240280" cy="22860"/>
          </a:xfrm>
          <a:prstGeom prst="rect">
            <a:avLst/>
          </a:prstGeom>
          <a:solidFill>
            <a:srgbClr val="23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A8DADC"/>
                </a:solidFill>
                <a:latin typeface="DejaVu Sans"/>
              </a:rPr>
              <a:t>O oceano domina o planeta — e continua sendo a região menos explorada da superfície terrestre.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14600"/>
            <a:ext cx="3246120" cy="2286000"/>
          </a:xfrm>
          <a:prstGeom prst="roundRect">
            <a:avLst>
              <a:gd name="adj" fmla="val 5500"/>
            </a:avLst>
          </a:prstGeom>
          <a:solidFill>
            <a:srgbClr val="22303F"/>
          </a:solidFill>
          <a:ln w="12700">
            <a:solidFill>
              <a:srgbClr val="2E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6432" y="2788920"/>
            <a:ext cx="438912" cy="438912"/>
          </a:xfrm>
          <a:prstGeom prst="ellipse">
            <a:avLst/>
          </a:prstGeom>
          <a:noFill/>
          <a:ln w="19050">
            <a:solidFill>
              <a:srgbClr val="2D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91544" y="2995208"/>
            <a:ext cx="368686" cy="26334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788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2D8B8B"/>
                </a:solidFill>
                <a:latin typeface="DejaVu Sans"/>
              </a:rPr>
              <a:t>71%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70432" y="3703320"/>
            <a:ext cx="548640" cy="27432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88620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F1FAEE"/>
                </a:solidFill>
                <a:latin typeface="DejaVu Sans"/>
              </a:rPr>
              <a:t>da superfície da Terra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F1FAEE"/>
                </a:solidFill>
                <a:latin typeface="DejaVu Sans"/>
              </a:rPr>
              <a:t>é coberta por oceano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2514600"/>
            <a:ext cx="3246120" cy="2286000"/>
          </a:xfrm>
          <a:prstGeom prst="roundRect">
            <a:avLst>
              <a:gd name="adj" fmla="val 5500"/>
            </a:avLst>
          </a:prstGeom>
          <a:solidFill>
            <a:srgbClr val="22303F"/>
          </a:solidFill>
          <a:ln w="12700">
            <a:solidFill>
              <a:srgbClr val="2E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3250" y="2788920"/>
            <a:ext cx="87782" cy="438912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1" y="2885480"/>
            <a:ext cx="184343" cy="26334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1" y="3008376"/>
            <a:ext cx="184343" cy="26334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9631" y="3131271"/>
            <a:ext cx="184343" cy="26334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6200" y="2788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2D8B8B"/>
                </a:solidFill>
                <a:latin typeface="DejaVu Sans"/>
              </a:rPr>
              <a:t>3.700 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13632" y="3703320"/>
            <a:ext cx="548640" cy="27432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86200" y="388620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F1FAEE"/>
                </a:solidFill>
                <a:latin typeface="DejaVu Sans"/>
              </a:rPr>
              <a:t>é a profundidade média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F1FAEE"/>
                </a:solidFill>
                <a:latin typeface="DejaVu Sans"/>
              </a:rPr>
              <a:t>dos oceanos do planeta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514600"/>
            <a:ext cx="3246120" cy="2286000"/>
          </a:xfrm>
          <a:prstGeom prst="roundRect">
            <a:avLst>
              <a:gd name="adj" fmla="val 5500"/>
            </a:avLst>
          </a:prstGeom>
          <a:solidFill>
            <a:srgbClr val="22303F"/>
          </a:solidFill>
          <a:ln w="12700">
            <a:solidFill>
              <a:srgbClr val="2E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ardrop 25"/>
          <p:cNvSpPr/>
          <p:nvPr/>
        </p:nvSpPr>
        <p:spPr>
          <a:xfrm>
            <a:off x="8942832" y="2788920"/>
            <a:ext cx="438912" cy="438912"/>
          </a:xfrm>
          <a:prstGeom prst="teardrop">
            <a:avLst/>
          </a:prstGeom>
          <a:noFill/>
          <a:ln w="19050">
            <a:solidFill>
              <a:srgbClr val="2D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96451" y="3030321"/>
            <a:ext cx="131673" cy="26334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2788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2D8B8B"/>
                </a:solidFill>
                <a:latin typeface="DejaVu Sans"/>
              </a:rPr>
              <a:t>97%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56832" y="3703320"/>
            <a:ext cx="548640" cy="27432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388620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F1FAEE"/>
                </a:solidFill>
                <a:latin typeface="DejaVu Sans"/>
              </a:rPr>
              <a:t>de toda a água do planeta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F1FAEE"/>
                </a:solidFill>
                <a:latin typeface="DejaVu Sans"/>
              </a:rPr>
              <a:t>está nos oceanos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2120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A8DADC"/>
                </a:solidFill>
                <a:latin typeface="DejaVu Sans"/>
              </a:rPr>
              <a:t>Menos de 5% das profundezas abaixo de 200 m já foram exploradas de forma direta.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82296" cy="566928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D8B8B"/>
                </a:solidFill>
                <a:latin typeface="DejaVu Sans"/>
              </a:rPr>
              <a:t>ZONAS DE PROFUNDIDADE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41248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1FAEE"/>
                </a:solidFill>
                <a:latin typeface="DejaVu Sans"/>
              </a:rPr>
              <a:t>O perfil vertical do oceano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D8B8B"/>
                </a:solidFill>
                <a:latin typeface="DejaVu Sans"/>
              </a:rPr>
              <a:t>OCEAN DEPTHS</a:t>
            </a:r>
            <a:r>
              <a:rPr sz="900" b="0">
                <a:solidFill>
                  <a:srgbClr val="A8DADC"/>
                </a:solidFill>
                <a:latin typeface="DejaVu Sans"/>
              </a:rPr>
              <a:t>  ·  demonstração de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D8B8B"/>
                </a:solidFill>
                <a:latin typeface="DejaVu Sans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0" y="6053328"/>
            <a:ext cx="777240" cy="22860"/>
          </a:xfrm>
          <a:prstGeom prst="rect">
            <a:avLst/>
          </a:prstGeom>
          <a:solidFill>
            <a:srgbClr val="23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5989320"/>
            <a:ext cx="1417320" cy="22860"/>
          </a:xfrm>
          <a:prstGeom prst="rect">
            <a:avLst/>
          </a:prstGeom>
          <a:solidFill>
            <a:srgbClr val="23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35440" y="5925312"/>
            <a:ext cx="2240280" cy="22860"/>
          </a:xfrm>
          <a:prstGeom prst="rect">
            <a:avLst/>
          </a:prstGeom>
          <a:solidFill>
            <a:srgbClr val="23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A8DADC"/>
                </a:solidFill>
                <a:latin typeface="DejaVu Sans"/>
              </a:rPr>
              <a:t>A coluna de água é dividida em cinco zonas, cada uma com um regime próprio de luz, pressão e vida.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874519"/>
            <a:ext cx="4297680" cy="3429000"/>
          </a:xfrm>
          <a:prstGeom prst="rect">
            <a:avLst/>
          </a:prstGeom>
          <a:noFill/>
          <a:ln w="15875">
            <a:solidFill>
              <a:srgbClr val="2D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1874519"/>
            <a:ext cx="4297680" cy="62345"/>
          </a:xfrm>
          <a:prstGeom prst="rect">
            <a:avLst/>
          </a:prstGeom>
          <a:solidFill>
            <a:srgbClr val="4F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777675"/>
            <a:ext cx="1783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1FAEE"/>
                </a:solidFill>
                <a:latin typeface="DejaVu Sans"/>
              </a:rPr>
              <a:t>Epipelágica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8DADC"/>
                </a:solidFill>
                <a:latin typeface="DejaVu Sans"/>
              </a:rPr>
              <a:t>0 – 200 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1936864"/>
            <a:ext cx="4297680" cy="249381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933538"/>
            <a:ext cx="1783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1FAEE"/>
                </a:solidFill>
                <a:latin typeface="DejaVu Sans"/>
              </a:rPr>
              <a:t>Mesopelágica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8DADC"/>
                </a:solidFill>
                <a:latin typeface="DejaVu Sans"/>
              </a:rPr>
              <a:t>200 – 1.000 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186245"/>
            <a:ext cx="4297680" cy="935181"/>
          </a:xfrm>
          <a:prstGeom prst="rect">
            <a:avLst/>
          </a:prstGeom>
          <a:solidFill>
            <a:srgbClr val="2264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525819"/>
            <a:ext cx="1783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1FAEE"/>
                </a:solidFill>
                <a:latin typeface="DejaVu Sans"/>
              </a:rPr>
              <a:t>Batipelágica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8DADC"/>
                </a:solidFill>
                <a:latin typeface="DejaVu Sans"/>
              </a:rPr>
              <a:t>1.000 – 4.000 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3121426"/>
            <a:ext cx="4297680" cy="623454"/>
          </a:xfrm>
          <a:prstGeom prst="rect">
            <a:avLst/>
          </a:prstGeom>
          <a:solidFill>
            <a:srgbClr val="1B4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305137"/>
            <a:ext cx="1783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1FAEE"/>
                </a:solidFill>
                <a:latin typeface="DejaVu Sans"/>
              </a:rPr>
              <a:t>Abissopelágica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8DADC"/>
                </a:solidFill>
                <a:latin typeface="DejaVu Sans"/>
              </a:rPr>
              <a:t>4.000 – 6.000 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3744880"/>
            <a:ext cx="4297680" cy="1538374"/>
          </a:xfrm>
          <a:prstGeom prst="rect">
            <a:avLst/>
          </a:prstGeom>
          <a:solidFill>
            <a:srgbClr val="14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86051"/>
            <a:ext cx="1783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1FAEE"/>
                </a:solidFill>
                <a:latin typeface="DejaVu Sans"/>
              </a:rPr>
              <a:t>Hadalpelágica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8DADC"/>
                </a:solidFill>
                <a:latin typeface="DejaVu Sans"/>
              </a:rPr>
              <a:t>6.000 – 10.935 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2186246"/>
            <a:ext cx="4297680" cy="18288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203994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A8DADC"/>
                </a:solidFill>
                <a:latin typeface="DejaVu Sans"/>
              </a:rPr>
              <a:t>▲</a:t>
            </a:r>
            <a:r>
              <a:rPr sz="1100" b="1">
                <a:solidFill>
                  <a:srgbClr val="A8DADC"/>
                </a:solidFill>
                <a:latin typeface="DejaVu Sans"/>
              </a:rPr>
              <a:t>  limite da luz solar — 1.000 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62356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F1FAEE"/>
                </a:solidFill>
                <a:latin typeface="DejaVu Sans"/>
              </a:rPr>
              <a:t>Abaixo de 1.000 m, a escuridão é total: a fotossíntese não existe e a vida depende de neve marinha e quimiossíntese.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82296" cy="566928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D8B8B"/>
                </a:solidFill>
                <a:latin typeface="DejaVu Sans"/>
              </a:rPr>
              <a:t>DADOS-CHAVE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41248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1FAEE"/>
                </a:solidFill>
                <a:latin typeface="DejaVu Sans"/>
              </a:rPr>
              <a:t>Números que impressionam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D8B8B"/>
                </a:solidFill>
                <a:latin typeface="DejaVu Sans"/>
              </a:rPr>
              <a:t>OCEAN DEPTHS</a:t>
            </a:r>
            <a:r>
              <a:rPr sz="900" b="0">
                <a:solidFill>
                  <a:srgbClr val="A8DADC"/>
                </a:solidFill>
                <a:latin typeface="DejaVu Sans"/>
              </a:rPr>
              <a:t>  ·  demonstração de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D8B8B"/>
                </a:solidFill>
                <a:latin typeface="DejaVu Sans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0" y="6053328"/>
            <a:ext cx="777240" cy="22860"/>
          </a:xfrm>
          <a:prstGeom prst="rect">
            <a:avLst/>
          </a:prstGeom>
          <a:solidFill>
            <a:srgbClr val="23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5989320"/>
            <a:ext cx="1417320" cy="22860"/>
          </a:xfrm>
          <a:prstGeom prst="rect">
            <a:avLst/>
          </a:prstGeom>
          <a:solidFill>
            <a:srgbClr val="23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35440" y="5925312"/>
            <a:ext cx="2240280" cy="22860"/>
          </a:xfrm>
          <a:prstGeom prst="rect">
            <a:avLst/>
          </a:prstGeom>
          <a:solidFill>
            <a:srgbClr val="23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691640"/>
            <a:ext cx="3840480" cy="1965960"/>
          </a:xfrm>
          <a:prstGeom prst="roundRect">
            <a:avLst>
              <a:gd name="adj" fmla="val 5500"/>
            </a:avLst>
          </a:prstGeom>
          <a:solidFill>
            <a:srgbClr val="22303F"/>
          </a:solidFill>
          <a:ln w="12700">
            <a:solidFill>
              <a:srgbClr val="2E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17670" y="1938528"/>
            <a:ext cx="100584" cy="502920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41648" y="2049170"/>
            <a:ext cx="211226" cy="30175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41648" y="2189988"/>
            <a:ext cx="211226" cy="30175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41648" y="2330805"/>
            <a:ext cx="211226" cy="30175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1920240"/>
            <a:ext cx="3291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2D8B8B"/>
                </a:solidFill>
                <a:latin typeface="DejaVu Sans"/>
              </a:rPr>
              <a:t>10.935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88036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F1FAEE"/>
                </a:solidFill>
                <a:latin typeface="DejaVu Sans"/>
              </a:rPr>
              <a:t>profundidade da Fossa das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F1FAEE"/>
                </a:solidFill>
                <a:latin typeface="DejaVu Sans"/>
              </a:rPr>
              <a:t>Marianas (Challenger Deep)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1691640"/>
            <a:ext cx="3840480" cy="1965960"/>
          </a:xfrm>
          <a:prstGeom prst="roundRect">
            <a:avLst>
              <a:gd name="adj" fmla="val 5500"/>
            </a:avLst>
          </a:prstGeom>
          <a:solidFill>
            <a:srgbClr val="22303F"/>
          </a:solidFill>
          <a:ln w="12700">
            <a:solidFill>
              <a:srgbClr val="2E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87768" y="1938528"/>
            <a:ext cx="502920" cy="502920"/>
          </a:xfrm>
          <a:prstGeom prst="ellipse">
            <a:avLst/>
          </a:prstGeom>
          <a:noFill/>
          <a:ln w="19050">
            <a:solidFill>
              <a:srgbClr val="2D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33031" y="1878178"/>
            <a:ext cx="30175" cy="120700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24141" y="1878178"/>
            <a:ext cx="30175" cy="120700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15250" y="1878178"/>
            <a:ext cx="30175" cy="120700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24141" y="2164842"/>
            <a:ext cx="30175" cy="60350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1920240"/>
            <a:ext cx="3291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2D8B8B"/>
                </a:solidFill>
                <a:latin typeface="DejaVu Sans"/>
              </a:rPr>
              <a:t>1.086 atm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88036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F1FAEE"/>
                </a:solidFill>
                <a:latin typeface="DejaVu Sans"/>
              </a:rPr>
              <a:t>pressão no ponto mais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F1FAEE"/>
                </a:solidFill>
                <a:latin typeface="DejaVu Sans"/>
              </a:rPr>
              <a:t>profundo do oceano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1691640"/>
            <a:ext cx="3840480" cy="1965960"/>
          </a:xfrm>
          <a:prstGeom prst="roundRect">
            <a:avLst>
              <a:gd name="adj" fmla="val 5500"/>
            </a:avLst>
          </a:prstGeom>
          <a:solidFill>
            <a:srgbClr val="22303F"/>
          </a:solidFill>
          <a:ln w="12700">
            <a:solidFill>
              <a:srgbClr val="2E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745114" y="1938528"/>
            <a:ext cx="80467" cy="301752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659618" y="2215134"/>
            <a:ext cx="251460" cy="201168"/>
          </a:xfrm>
          <a:prstGeom prst="ellipse">
            <a:avLst/>
          </a:prstGeom>
          <a:noFill/>
          <a:ln w="19050">
            <a:solidFill>
              <a:srgbClr val="2D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1920240"/>
            <a:ext cx="3291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2D8B8B"/>
                </a:solidFill>
                <a:latin typeface="DejaVu Sans"/>
              </a:rPr>
              <a:t>2 – 4 °C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88036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F1FAEE"/>
                </a:solidFill>
                <a:latin typeface="DejaVu Sans"/>
              </a:rPr>
              <a:t>temperatura média das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F1FAEE"/>
                </a:solidFill>
                <a:latin typeface="DejaVu Sans"/>
              </a:rPr>
              <a:t>águas profundas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3977639"/>
            <a:ext cx="10332720" cy="1554480"/>
          </a:xfrm>
          <a:prstGeom prst="roundRect">
            <a:avLst>
              <a:gd name="adj" fmla="val 5500"/>
            </a:avLst>
          </a:prstGeom>
          <a:solidFill>
            <a:srgbClr val="22303F"/>
          </a:solidFill>
          <a:ln w="12700">
            <a:solidFill>
              <a:srgbClr val="2E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" y="3977639"/>
            <a:ext cx="64008" cy="1554480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40" y="4206240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2D8B8B"/>
                </a:solidFill>
                <a:latin typeface="DejaVu Sans"/>
              </a:rPr>
              <a:t>~25%</a:t>
            </a:r>
            <a:r>
              <a:rPr sz="1400" b="0">
                <a:solidFill>
                  <a:srgbClr val="F1FAEE"/>
                </a:solidFill>
                <a:latin typeface="DejaVu Sans"/>
              </a:rPr>
              <a:t>  do fundo do oceano está mapeado em alta resolução.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892040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A8DADC"/>
                </a:solidFill>
                <a:latin typeface="DejaVu Sans"/>
              </a:rPr>
              <a:t>Aproximadamente 75% do assoalho oceânico ainda não tem mapeamento batimétrico de qualidade — menos do que a superfície de Marte.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7607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A8DADC"/>
                </a:solidFill>
                <a:latin typeface="DejaVu Sans"/>
              </a:rPr>
              <a:t>O Monte Everest (8.849 m) caberia na Fossa das Marianas com mais de 2 km de sobra.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82296" cy="566928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D8B8B"/>
                </a:solidFill>
                <a:latin typeface="DejaVu Sans"/>
              </a:rPr>
              <a:t>DESAFIOS FÍSICOS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41248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1FAEE"/>
                </a:solidFill>
                <a:latin typeface="DejaVu Sans"/>
              </a:rPr>
              <a:t>O ambiente mais hostil da Terra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D8B8B"/>
                </a:solidFill>
                <a:latin typeface="DejaVu Sans"/>
              </a:rPr>
              <a:t>OCEAN DEPTHS</a:t>
            </a:r>
            <a:r>
              <a:rPr sz="900" b="0">
                <a:solidFill>
                  <a:srgbClr val="A8DADC"/>
                </a:solidFill>
                <a:latin typeface="DejaVu Sans"/>
              </a:rPr>
              <a:t>  ·  demonstração de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D8B8B"/>
                </a:solidFill>
                <a:latin typeface="DejaVu Sans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0" y="6053328"/>
            <a:ext cx="777240" cy="22860"/>
          </a:xfrm>
          <a:prstGeom prst="rect">
            <a:avLst/>
          </a:prstGeom>
          <a:solidFill>
            <a:srgbClr val="23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5989320"/>
            <a:ext cx="1417320" cy="22860"/>
          </a:xfrm>
          <a:prstGeom prst="rect">
            <a:avLst/>
          </a:prstGeom>
          <a:solidFill>
            <a:srgbClr val="23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35440" y="5925312"/>
            <a:ext cx="2240280" cy="22860"/>
          </a:xfrm>
          <a:prstGeom prst="rect">
            <a:avLst/>
          </a:prstGeom>
          <a:solidFill>
            <a:srgbClr val="23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783080"/>
            <a:ext cx="3337560" cy="3931920"/>
          </a:xfrm>
          <a:prstGeom prst="roundRect">
            <a:avLst>
              <a:gd name="adj" fmla="val 5500"/>
            </a:avLst>
          </a:prstGeom>
          <a:solidFill>
            <a:srgbClr val="22303F"/>
          </a:solidFill>
          <a:ln w="12700">
            <a:solidFill>
              <a:srgbClr val="2E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0432" y="2103120"/>
            <a:ext cx="777240" cy="777240"/>
          </a:xfrm>
          <a:prstGeom prst="ellipse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2212848"/>
            <a:ext cx="777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A2332"/>
                </a:solidFill>
                <a:latin typeface="DejaVu Sans"/>
              </a:rPr>
              <a:t>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10896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1FAEE"/>
                </a:solidFill>
                <a:latin typeface="DejaVu Sans"/>
              </a:rPr>
              <a:t>Pressão esmagadora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3611880"/>
            <a:ext cx="502920" cy="27432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3794760"/>
            <a:ext cx="2834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A8DADC"/>
                </a:solidFill>
                <a:latin typeface="DejaVu Sans"/>
              </a:rPr>
              <a:t>A pressão aumenta 1 atm a cada 10 m. No Challenger Deep, equivale a 1.000 toneladas por metro quadrado.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783080"/>
            <a:ext cx="3337560" cy="3931920"/>
          </a:xfrm>
          <a:prstGeom prst="roundRect">
            <a:avLst>
              <a:gd name="adj" fmla="val 5500"/>
            </a:avLst>
          </a:prstGeom>
          <a:solidFill>
            <a:srgbClr val="22303F"/>
          </a:solidFill>
          <a:ln w="12700">
            <a:solidFill>
              <a:srgbClr val="2E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90872" y="2103120"/>
            <a:ext cx="777240" cy="777240"/>
          </a:xfrm>
          <a:prstGeom prst="ellipse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2212848"/>
            <a:ext cx="777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A2332"/>
                </a:solidFill>
                <a:latin typeface="DejaVu Sans"/>
              </a:rPr>
              <a:t>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310896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1FAEE"/>
                </a:solidFill>
                <a:latin typeface="DejaVu Sans"/>
              </a:rPr>
              <a:t>Escuridão absoluta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59" y="3611880"/>
            <a:ext cx="502920" cy="27432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0872" y="3794760"/>
            <a:ext cx="2834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A8DADC"/>
                </a:solidFill>
                <a:latin typeface="DejaVu Sans"/>
              </a:rPr>
              <a:t>A luz solar não atravessa 1.000 m. As criaturas profundas produzem a própria luz por bioluminescência.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1783080"/>
            <a:ext cx="3337560" cy="3931920"/>
          </a:xfrm>
          <a:prstGeom prst="roundRect">
            <a:avLst>
              <a:gd name="adj" fmla="val 5500"/>
            </a:avLst>
          </a:prstGeom>
          <a:solidFill>
            <a:srgbClr val="22303F"/>
          </a:solidFill>
          <a:ln w="12700">
            <a:solidFill>
              <a:srgbClr val="2E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1311" y="2103120"/>
            <a:ext cx="777240" cy="777240"/>
          </a:xfrm>
          <a:prstGeom prst="ellipse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1" y="2212848"/>
            <a:ext cx="777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A2332"/>
                </a:solidFill>
                <a:latin typeface="DejaVu Sans"/>
              </a:rPr>
              <a:t>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1" y="310896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1FAEE"/>
                </a:solidFill>
                <a:latin typeface="DejaVu Sans"/>
              </a:rPr>
              <a:t>Frio constante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611880"/>
            <a:ext cx="502920" cy="27432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1" y="3794760"/>
            <a:ext cx="2834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A8DADC"/>
                </a:solidFill>
                <a:latin typeface="DejaVu Sans"/>
              </a:rPr>
              <a:t>Entre 2 e 4 °C, sem variação sazonal. A vida depende de quimiossíntese nas fontes hidrotermais.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9436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1FAEE"/>
                </a:solidFill>
                <a:latin typeface="DejaVu Sans"/>
              </a:rPr>
              <a:t>Sobreviver aqui exige engenharia de precisão — e os mesmos desafios impulsionam a inovação.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82296" cy="566928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D8B8B"/>
                </a:solidFill>
                <a:latin typeface="DejaVu Sans"/>
              </a:rPr>
              <a:t>COMO CHEGAMOS LÁ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41248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1FAEE"/>
                </a:solidFill>
                <a:latin typeface="DejaVu Sans"/>
              </a:rPr>
              <a:t>Tecnologia de exploração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D8B8B"/>
                </a:solidFill>
                <a:latin typeface="DejaVu Sans"/>
              </a:rPr>
              <a:t>OCEAN DEPTHS</a:t>
            </a:r>
            <a:r>
              <a:rPr sz="900" b="0">
                <a:solidFill>
                  <a:srgbClr val="A8DADC"/>
                </a:solidFill>
                <a:latin typeface="DejaVu Sans"/>
              </a:rPr>
              <a:t>  ·  demonstração de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D8B8B"/>
                </a:solidFill>
                <a:latin typeface="DejaVu Sans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0" y="6053328"/>
            <a:ext cx="777240" cy="22860"/>
          </a:xfrm>
          <a:prstGeom prst="rect">
            <a:avLst/>
          </a:prstGeom>
          <a:solidFill>
            <a:srgbClr val="23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5989320"/>
            <a:ext cx="1417320" cy="22860"/>
          </a:xfrm>
          <a:prstGeom prst="rect">
            <a:avLst/>
          </a:prstGeom>
          <a:solidFill>
            <a:srgbClr val="23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35440" y="5925312"/>
            <a:ext cx="2240280" cy="22860"/>
          </a:xfrm>
          <a:prstGeom prst="rect">
            <a:avLst/>
          </a:prstGeom>
          <a:solidFill>
            <a:srgbClr val="23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691640"/>
            <a:ext cx="10332720" cy="1234440"/>
          </a:xfrm>
          <a:prstGeom prst="roundRect">
            <a:avLst>
              <a:gd name="adj" fmla="val 5500"/>
            </a:avLst>
          </a:prstGeom>
          <a:solidFill>
            <a:srgbClr val="22303F"/>
          </a:solidFill>
          <a:ln w="12700">
            <a:solidFill>
              <a:srgbClr val="2E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691640"/>
            <a:ext cx="64008" cy="1234440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856232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D8B8B"/>
                </a:solidFill>
                <a:latin typeface="DejaVu Sans"/>
              </a:rPr>
              <a:t>01</a:t>
            </a:r>
            <a:r>
              <a:rPr sz="1300" b="0">
                <a:solidFill>
                  <a:srgbClr val="F1FAEE"/>
                </a:solidFill>
                <a:latin typeface="DejaVu Sans"/>
              </a:rPr>
              <a:t>   </a:t>
            </a:r>
            <a:r>
              <a:rPr sz="1700" b="1">
                <a:solidFill>
                  <a:srgbClr val="F1FAEE"/>
                </a:solidFill>
                <a:latin typeface="DejaVu Sans"/>
              </a:rPr>
              <a:t>Sonar multifeixe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258568"/>
            <a:ext cx="9509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A8DADC"/>
                </a:solidFill>
                <a:latin typeface="DejaVu Sans"/>
              </a:rPr>
              <a:t>Mapeia o fundo do oceano emitindo feixes acústicos. É a base da cartografia batimétrica moderna.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108960"/>
            <a:ext cx="10332720" cy="1234440"/>
          </a:xfrm>
          <a:prstGeom prst="roundRect">
            <a:avLst>
              <a:gd name="adj" fmla="val 5500"/>
            </a:avLst>
          </a:prstGeom>
          <a:solidFill>
            <a:srgbClr val="22303F"/>
          </a:solidFill>
          <a:ln w="12700">
            <a:solidFill>
              <a:srgbClr val="2E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108960"/>
            <a:ext cx="64008" cy="1234440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3273552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D8B8B"/>
                </a:solidFill>
                <a:latin typeface="DejaVu Sans"/>
              </a:rPr>
              <a:t>02</a:t>
            </a:r>
            <a:r>
              <a:rPr sz="1300" b="0">
                <a:solidFill>
                  <a:srgbClr val="F1FAEE"/>
                </a:solidFill>
                <a:latin typeface="DejaVu Sans"/>
              </a:rPr>
              <a:t>   </a:t>
            </a:r>
            <a:r>
              <a:rPr sz="1700" b="1">
                <a:solidFill>
                  <a:srgbClr val="F1FAEE"/>
                </a:solidFill>
                <a:latin typeface="DejaVu Sans"/>
              </a:rPr>
              <a:t>ROVs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675888"/>
            <a:ext cx="9509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A8DADC"/>
                </a:solidFill>
                <a:latin typeface="DejaVu Sans"/>
              </a:rPr>
              <a:t>Robôs operados à distância alcançam mais de 6.000 m, coletando imagens e amostras sem risco humano.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526280"/>
            <a:ext cx="10332720" cy="1234440"/>
          </a:xfrm>
          <a:prstGeom prst="roundRect">
            <a:avLst>
              <a:gd name="adj" fmla="val 5500"/>
            </a:avLst>
          </a:prstGeom>
          <a:solidFill>
            <a:srgbClr val="22303F"/>
          </a:solidFill>
          <a:ln w="12700">
            <a:solidFill>
              <a:srgbClr val="2E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4526280"/>
            <a:ext cx="64008" cy="1234440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690872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D8B8B"/>
                </a:solidFill>
                <a:latin typeface="DejaVu Sans"/>
              </a:rPr>
              <a:t>03</a:t>
            </a:r>
            <a:r>
              <a:rPr sz="1300" b="0">
                <a:solidFill>
                  <a:srgbClr val="F1FAEE"/>
                </a:solidFill>
                <a:latin typeface="DejaVu Sans"/>
              </a:rPr>
              <a:t>   </a:t>
            </a:r>
            <a:r>
              <a:rPr sz="1700" b="1">
                <a:solidFill>
                  <a:srgbClr val="F1FAEE"/>
                </a:solidFill>
                <a:latin typeface="DejaVu Sans"/>
              </a:rPr>
              <a:t>Submersíveis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093208"/>
            <a:ext cx="9509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A8DADC"/>
                </a:solidFill>
                <a:latin typeface="DejaVu Sans"/>
              </a:rPr>
              <a:t>Naves tripuladas como o Limiting Factor (10.925 m) levaram humanos ao ponto mais profundo em 2019.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9893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F1FAEE"/>
                </a:solidFill>
                <a:latin typeface="DejaVu Sans"/>
              </a:rPr>
              <a:t>1960 — o batiscafo Trieste foi o primeiro a tocar o Challenger Deep.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82296" cy="566928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D8B8B"/>
                </a:solidFill>
                <a:latin typeface="DejaVu Sans"/>
              </a:rPr>
              <a:t>A PRÓXIMA FRONTEIRA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41248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1FAEE"/>
                </a:solidFill>
                <a:latin typeface="DejaVu Sans"/>
              </a:rPr>
              <a:t>Mapear o desconhecido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D8B8B"/>
                </a:solidFill>
                <a:latin typeface="DejaVu Sans"/>
              </a:rPr>
              <a:t>OCEAN DEPTHS</a:t>
            </a:r>
            <a:r>
              <a:rPr sz="900" b="0">
                <a:solidFill>
                  <a:srgbClr val="A8DADC"/>
                </a:solidFill>
                <a:latin typeface="DejaVu Sans"/>
              </a:rPr>
              <a:t>  ·  demonstração de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D8B8B"/>
                </a:solidFill>
                <a:latin typeface="DejaVu Sans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0" y="6053328"/>
            <a:ext cx="777240" cy="22860"/>
          </a:xfrm>
          <a:prstGeom prst="rect">
            <a:avLst/>
          </a:prstGeom>
          <a:solidFill>
            <a:srgbClr val="23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5989320"/>
            <a:ext cx="1417320" cy="22860"/>
          </a:xfrm>
          <a:prstGeom prst="rect">
            <a:avLst/>
          </a:prstGeom>
          <a:solidFill>
            <a:srgbClr val="23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35440" y="5925312"/>
            <a:ext cx="2240280" cy="22860"/>
          </a:xfrm>
          <a:prstGeom prst="rect">
            <a:avLst/>
          </a:prstGeom>
          <a:solidFill>
            <a:srgbClr val="23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691640"/>
            <a:ext cx="4937760" cy="3840480"/>
          </a:xfrm>
          <a:prstGeom prst="roundRect">
            <a:avLst>
              <a:gd name="adj" fmla="val 5500"/>
            </a:avLst>
          </a:prstGeom>
          <a:solidFill>
            <a:srgbClr val="22303F"/>
          </a:solidFill>
          <a:ln w="12700">
            <a:solidFill>
              <a:srgbClr val="2E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148840"/>
            <a:ext cx="4389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0" b="1">
                <a:solidFill>
                  <a:srgbClr val="2D8B8B"/>
                </a:solidFill>
                <a:latin typeface="DejaVu Sans"/>
              </a:rPr>
              <a:t>75%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03320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F1FAEE"/>
                </a:solidFill>
                <a:latin typeface="DejaVu Sans"/>
              </a:rPr>
              <a:t>do assoalho oceânico ainda não foi mapeado em alta resolução — menos conhecido do que a superfície de Marte.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7008" y="4892040"/>
            <a:ext cx="548640" cy="27432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0" y="1691640"/>
            <a:ext cx="5120640" cy="1143000"/>
          </a:xfrm>
          <a:prstGeom prst="roundRect">
            <a:avLst>
              <a:gd name="adj" fmla="val 5500"/>
            </a:avLst>
          </a:prstGeom>
          <a:solidFill>
            <a:srgbClr val="22303F"/>
          </a:solidFill>
          <a:ln w="12700">
            <a:solidFill>
              <a:srgbClr val="2E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819656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2D8B8B"/>
                </a:solidFill>
                <a:latin typeface="DejaVu Sans"/>
              </a:rPr>
              <a:t>PROJETO SEABED 2030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67128"/>
            <a:ext cx="4663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F1FAEE"/>
                </a:solidFill>
                <a:latin typeface="DejaVu Sans"/>
              </a:rPr>
              <a:t>Iniciativa global com o objetivo de mapear 100% do fundo do oceano até 2030.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2990088"/>
            <a:ext cx="5120640" cy="1143000"/>
          </a:xfrm>
          <a:prstGeom prst="roundRect">
            <a:avLst>
              <a:gd name="adj" fmla="val 5500"/>
            </a:avLst>
          </a:prstGeom>
          <a:solidFill>
            <a:srgbClr val="22303F"/>
          </a:solidFill>
          <a:ln w="12700">
            <a:solidFill>
              <a:srgbClr val="2E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118104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2D8B8B"/>
                </a:solidFill>
                <a:latin typeface="DejaVu Sans"/>
              </a:rPr>
              <a:t>POR QUE IMPORTA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465576"/>
            <a:ext cx="4663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F1FAEE"/>
                </a:solidFill>
                <a:latin typeface="DejaVu Sans"/>
              </a:rPr>
              <a:t>Cabos submarinos, clima, rotas de navegação e recursos minerais dependem de dados batimétricos.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4288536"/>
            <a:ext cx="5120640" cy="1143000"/>
          </a:xfrm>
          <a:prstGeom prst="roundRect">
            <a:avLst>
              <a:gd name="adj" fmla="val 5500"/>
            </a:avLst>
          </a:prstGeom>
          <a:solidFill>
            <a:srgbClr val="22303F"/>
          </a:solidFill>
          <a:ln w="12700">
            <a:solidFill>
              <a:srgbClr val="2E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416551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2D8B8B"/>
                </a:solidFill>
                <a:latin typeface="DejaVu Sans"/>
              </a:rPr>
              <a:t>ALTO RETORNO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764023"/>
            <a:ext cx="4663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F1FAEE"/>
                </a:solidFill>
                <a:latin typeface="DejaVu Sans"/>
              </a:rPr>
              <a:t>Um oceano mapeado reduz riscos e abre caminho para conservação baseada em dados.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06440" y="6693408"/>
            <a:ext cx="0" cy="164592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23560" y="6693408"/>
            <a:ext cx="0" cy="164592"/>
          </a:xfrm>
          <a:prstGeom prst="rect">
            <a:avLst/>
          </a:prstGeom>
          <a:solidFill>
            <a:srgbClr val="26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40680" y="6693408"/>
            <a:ext cx="0" cy="164592"/>
          </a:xfrm>
          <a:prstGeom prst="rect">
            <a:avLst/>
          </a:prstGeom>
          <a:solidFill>
            <a:srgbClr val="1F4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57800" y="6693408"/>
            <a:ext cx="1" cy="164592"/>
          </a:xfrm>
          <a:prstGeom prst="rect">
            <a:avLst/>
          </a:prstGeom>
          <a:solidFill>
            <a:srgbClr val="16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D8B8B"/>
                </a:solidFill>
                <a:latin typeface="DejaVu Sans"/>
              </a:rPr>
              <a:t>OCEAN RESEARCH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F1FAEE"/>
                </a:solidFill>
                <a:latin typeface="DejaVu Sans"/>
              </a:rPr>
              <a:t>O oceano espera.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520440"/>
            <a:ext cx="2377440" cy="32004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94760"/>
            <a:ext cx="9509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A8DADC"/>
                </a:solidFill>
                <a:latin typeface="DejaVu Sans"/>
              </a:rPr>
              <a:t>A próxima fronteira da exploração começa abaixo de 1.000 metros — e as ferramentas para alcançá-la nunca estiveram tão maduras.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6235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F1FAEE"/>
                </a:solidFill>
                <a:latin typeface="DejaVu Sans"/>
              </a:rPr>
              <a:t>ocean-research@corp.com</a:t>
            </a:r>
            <a:r>
              <a:rPr sz="1300" b="0">
                <a:solidFill>
                  <a:srgbClr val="A8DADC"/>
                </a:solidFill>
                <a:latin typeface="DejaVu Sans"/>
              </a:rPr>
              <a:t>    |    www.oceandepths.corp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